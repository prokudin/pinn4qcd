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VT323"/>
      <p:regular r:id="rId22"/>
    </p:embeddedFont>
    <p:embeddedFont>
      <p:font typeface="Red Hat Mono"/>
      <p:regular r:id="rId23"/>
      <p:bold r:id="rId24"/>
      <p:italic r:id="rId25"/>
      <p:boldItalic r:id="rId26"/>
    </p:embeddedFont>
    <p:embeddedFont>
      <p:font typeface="Archiv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VT323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RedHatMono-bold.fntdata"/><Relationship Id="rId23" Type="http://schemas.openxmlformats.org/officeDocument/2006/relationships/font" Target="fonts/RedHat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edHatMono-boldItalic.fntdata"/><Relationship Id="rId25" Type="http://schemas.openxmlformats.org/officeDocument/2006/relationships/font" Target="fonts/RedHatMono-italic.fntdata"/><Relationship Id="rId28" Type="http://schemas.openxmlformats.org/officeDocument/2006/relationships/font" Target="fonts/Archivo-bold.fntdata"/><Relationship Id="rId27" Type="http://schemas.openxmlformats.org/officeDocument/2006/relationships/font" Target="fonts/Archiv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chiv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Archiv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i.org/10.1016/j.jcp.2018.10.045" TargetMode="External"/><Relationship Id="rId3" Type="http://schemas.openxmlformats.org/officeDocument/2006/relationships/hyperlink" Target="https://doi.org/10.1016/j.jcp.2018.10.045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i.org/10.4208/cicp.OA-2023-0058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2109.01050" TargetMode="External"/><Relationship Id="rId3" Type="http://schemas.openxmlformats.org/officeDocument/2006/relationships/hyperlink" Target="https://arxiv.org/abs/2109.01050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fbbfd9c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fbbfd9c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LIDES_API155901481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LIDES_API155901481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SLIDES_API155901481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SLIDES_API155901481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SLIDES_API155901481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SLIDES_API155901481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SLIDES_API155901481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SLIDES_API155901481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Raissi, M., Perdikaris, P., &amp; Karniadakis, G. E. (2019). Physics-informed neural networks: A deep learning framework for solving forward and inverse problems involving nonlinear partial differential equations. </a:t>
            </a:r>
            <a:r>
              <a:rPr i="1" lang="en" sz="1200">
                <a:solidFill>
                  <a:schemeClr val="dk1"/>
                </a:solidFill>
              </a:rPr>
              <a:t>Journal of Computational Physics, 378</a:t>
            </a:r>
            <a:r>
              <a:rPr lang="en" sz="1200">
                <a:solidFill>
                  <a:schemeClr val="dk1"/>
                </a:solidFill>
              </a:rPr>
              <a:t>, 686–707.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https://doi.org/10.1016/j.jcp.2018.10.045</a:t>
            </a:r>
            <a:endParaRPr sz="12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SLIDES_API155901481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SLIDES_API155901481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Wang, H., Lu, L., Song, S., &amp; Huang, G. (2023). Learning specialized activation functions for physics-informed neural networks. </a:t>
            </a:r>
            <a:r>
              <a:rPr i="1" lang="en" sz="1200">
                <a:solidFill>
                  <a:schemeClr val="dk1"/>
                </a:solidFill>
              </a:rPr>
              <a:t>Communications in Computational Physics</a:t>
            </a:r>
            <a:r>
              <a:rPr lang="en" sz="1200">
                <a:solidFill>
                  <a:schemeClr val="dk1"/>
                </a:solidFill>
              </a:rPr>
              <a:t>, </a:t>
            </a:r>
            <a:r>
              <a:rPr i="1" lang="en" sz="1200">
                <a:solidFill>
                  <a:schemeClr val="dk1"/>
                </a:solidFill>
              </a:rPr>
              <a:t>34</a:t>
            </a:r>
            <a:r>
              <a:rPr lang="en" sz="1200">
                <a:solidFill>
                  <a:schemeClr val="dk1"/>
                </a:solidFill>
              </a:rPr>
              <a:t>(4), 1125–1151. </a:t>
            </a:r>
            <a:r>
              <a:rPr lang="en" sz="1200" u="sng">
                <a:solidFill>
                  <a:schemeClr val="hlink"/>
                </a:solidFill>
                <a:hlinkClick r:id="rId2"/>
              </a:rPr>
              <a:t>https://doi.org/10.4208/cicp.OA-2023-0058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SLIDES_API1559014815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SLIDES_API1559014815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fbbfd9c5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fbbfd9c5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SLIDES_API1559014815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SLIDES_API155901481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Krishnapriyan, A. S., Gholami, A., Zhe, S., Kirby, R. M., &amp; Mahoney, M. W. (2021). Characterizing possible failure modes in physics-informed neural networks. </a:t>
            </a:r>
            <a:r>
              <a:rPr i="1" lang="en">
                <a:solidFill>
                  <a:schemeClr val="dk1"/>
                </a:solidFill>
              </a:rPr>
              <a:t>Advances in Neural Information Processing Systems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34</a:t>
            </a:r>
            <a:r>
              <a:rPr lang="en">
                <a:solidFill>
                  <a:schemeClr val="dk1"/>
                </a:solidFill>
              </a:rPr>
              <a:t>, 26581–26594.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https://arxiv.org/abs/2109.01050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SLIDES_API1559014815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SLIDES_API1559014815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SLIDES_API1559014815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SLIDES_API155901481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SLIDES_API1559014815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SLIDES_API1559014815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>
            <a:off x="1457611" y="-3227699"/>
            <a:ext cx="9692323" cy="83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653000" y="1899963"/>
            <a:ext cx="31740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i="0" sz="34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666200" y="2389438"/>
            <a:ext cx="16968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2" type="ctrTitle"/>
          </p:nvPr>
        </p:nvSpPr>
        <p:spPr>
          <a:xfrm>
            <a:off x="5182500" y="449702"/>
            <a:ext cx="2308500" cy="42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i="0" sz="191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344189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15" name="Google Shape;15;p3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-4048425" y="16685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 rot="4322965">
            <a:off x="2675537" y="1282749"/>
            <a:ext cx="9692323" cy="837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1220209" y="504648"/>
            <a:ext cx="330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subTitle"/>
          </p:nvPr>
        </p:nvSpPr>
        <p:spPr>
          <a:xfrm>
            <a:off x="1220209" y="1451585"/>
            <a:ext cx="330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3" type="subTitle"/>
          </p:nvPr>
        </p:nvSpPr>
        <p:spPr>
          <a:xfrm>
            <a:off x="1220209" y="2398521"/>
            <a:ext cx="330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4" type="subTitle"/>
          </p:nvPr>
        </p:nvSpPr>
        <p:spPr>
          <a:xfrm>
            <a:off x="1220209" y="3345458"/>
            <a:ext cx="330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5" type="subTitle"/>
          </p:nvPr>
        </p:nvSpPr>
        <p:spPr>
          <a:xfrm>
            <a:off x="5314804" y="504648"/>
            <a:ext cx="330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subTitle"/>
          </p:nvPr>
        </p:nvSpPr>
        <p:spPr>
          <a:xfrm>
            <a:off x="5314804" y="1451593"/>
            <a:ext cx="330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5314804" y="2398539"/>
            <a:ext cx="330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8" type="subTitle"/>
          </p:nvPr>
        </p:nvSpPr>
        <p:spPr>
          <a:xfrm>
            <a:off x="5314804" y="3345484"/>
            <a:ext cx="330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521691" y="3465371"/>
            <a:ext cx="71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9" type="title"/>
          </p:nvPr>
        </p:nvSpPr>
        <p:spPr>
          <a:xfrm>
            <a:off x="521692" y="1571283"/>
            <a:ext cx="71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4"/>
          <p:cNvSpPr txBox="1"/>
          <p:nvPr>
            <p:ph idx="13" type="title"/>
          </p:nvPr>
        </p:nvSpPr>
        <p:spPr>
          <a:xfrm>
            <a:off x="522373" y="624538"/>
            <a:ext cx="7107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9" name="Google Shape;29;p4"/>
          <p:cNvSpPr txBox="1"/>
          <p:nvPr>
            <p:ph idx="14" type="title"/>
          </p:nvPr>
        </p:nvSpPr>
        <p:spPr>
          <a:xfrm>
            <a:off x="521691" y="2518327"/>
            <a:ext cx="71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0" name="Google Shape;30;p4"/>
          <p:cNvSpPr txBox="1"/>
          <p:nvPr>
            <p:ph idx="15" type="title"/>
          </p:nvPr>
        </p:nvSpPr>
        <p:spPr>
          <a:xfrm>
            <a:off x="4627489" y="1571508"/>
            <a:ext cx="71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" name="Google Shape;31;p4"/>
          <p:cNvSpPr txBox="1"/>
          <p:nvPr>
            <p:ph idx="16" type="title"/>
          </p:nvPr>
        </p:nvSpPr>
        <p:spPr>
          <a:xfrm>
            <a:off x="4627487" y="2518452"/>
            <a:ext cx="71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" name="Google Shape;32;p4"/>
          <p:cNvSpPr txBox="1"/>
          <p:nvPr>
            <p:ph idx="17" type="title"/>
          </p:nvPr>
        </p:nvSpPr>
        <p:spPr>
          <a:xfrm>
            <a:off x="4627489" y="3465396"/>
            <a:ext cx="71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4"/>
          <p:cNvSpPr txBox="1"/>
          <p:nvPr>
            <p:ph idx="18" type="title"/>
          </p:nvPr>
        </p:nvSpPr>
        <p:spPr>
          <a:xfrm>
            <a:off x="4627489" y="624563"/>
            <a:ext cx="712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4" name="Google Shape;34;p4"/>
          <p:cNvSpPr txBox="1"/>
          <p:nvPr>
            <p:ph idx="19" type="title"/>
          </p:nvPr>
        </p:nvSpPr>
        <p:spPr>
          <a:xfrm>
            <a:off x="228600" y="4352104"/>
            <a:ext cx="8687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171450" y="-1813500"/>
            <a:ext cx="7337952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idx="1" type="body"/>
          </p:nvPr>
        </p:nvSpPr>
        <p:spPr>
          <a:xfrm>
            <a:off x="228600" y="3276000"/>
            <a:ext cx="3710400" cy="16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228600" y="342150"/>
            <a:ext cx="3710400" cy="17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9" name="Google Shape;39;p5"/>
          <p:cNvSpPr/>
          <p:nvPr>
            <p:ph idx="2" type="pic"/>
          </p:nvPr>
        </p:nvSpPr>
        <p:spPr>
          <a:xfrm>
            <a:off x="4306500" y="0"/>
            <a:ext cx="4837500" cy="514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-402625" y="1369750"/>
            <a:ext cx="7337952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type="title"/>
          </p:nvPr>
        </p:nvSpPr>
        <p:spPr>
          <a:xfrm>
            <a:off x="4256688" y="2401800"/>
            <a:ext cx="46587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0" sz="3000">
                <a:solidFill>
                  <a:schemeClr val="lt1"/>
                </a:solidFill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6"/>
          <p:cNvSpPr txBox="1"/>
          <p:nvPr>
            <p:ph idx="2" type="title"/>
          </p:nvPr>
        </p:nvSpPr>
        <p:spPr>
          <a:xfrm>
            <a:off x="228600" y="1498357"/>
            <a:ext cx="3009300" cy="20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0" sz="171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1417350" y="2615513"/>
            <a:ext cx="6309300" cy="16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1417350" y="910088"/>
            <a:ext cx="52620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57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47" name="Google Shape;47;p7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5111130">
            <a:off x="5582875" y="-110355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idx="1" type="subTitle"/>
          </p:nvPr>
        </p:nvSpPr>
        <p:spPr>
          <a:xfrm>
            <a:off x="1987354" y="1276075"/>
            <a:ext cx="516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2" type="subTitle"/>
          </p:nvPr>
        </p:nvSpPr>
        <p:spPr>
          <a:xfrm>
            <a:off x="1987354" y="3220595"/>
            <a:ext cx="516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00">
                <a:solidFill>
                  <a:schemeClr val="dk2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3" type="subTitle"/>
          </p:nvPr>
        </p:nvSpPr>
        <p:spPr>
          <a:xfrm>
            <a:off x="1987350" y="1756451"/>
            <a:ext cx="51693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4" type="subTitle"/>
          </p:nvPr>
        </p:nvSpPr>
        <p:spPr>
          <a:xfrm>
            <a:off x="1987350" y="3700970"/>
            <a:ext cx="51693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54" name="Google Shape;54;p8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10530784">
            <a:off x="-3574328" y="90649"/>
            <a:ext cx="7337953" cy="573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idx="1" type="subTitle"/>
          </p:nvPr>
        </p:nvSpPr>
        <p:spPr>
          <a:xfrm>
            <a:off x="2017726" y="2519050"/>
            <a:ext cx="5911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subTitle"/>
          </p:nvPr>
        </p:nvSpPr>
        <p:spPr>
          <a:xfrm>
            <a:off x="2017425" y="1205425"/>
            <a:ext cx="5911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3" type="subTitle"/>
          </p:nvPr>
        </p:nvSpPr>
        <p:spPr>
          <a:xfrm>
            <a:off x="2017752" y="3832400"/>
            <a:ext cx="5911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1214429" y="2702041"/>
            <a:ext cx="93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" name="Google Shape;60;p9"/>
          <p:cNvSpPr txBox="1"/>
          <p:nvPr>
            <p:ph idx="4" type="title"/>
          </p:nvPr>
        </p:nvSpPr>
        <p:spPr>
          <a:xfrm>
            <a:off x="1214834" y="1388566"/>
            <a:ext cx="9285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61" name="Google Shape;61;p9"/>
          <p:cNvSpPr txBox="1"/>
          <p:nvPr>
            <p:ph idx="5" type="title"/>
          </p:nvPr>
        </p:nvSpPr>
        <p:spPr>
          <a:xfrm>
            <a:off x="1215241" y="4015391"/>
            <a:ext cx="93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62" name="Google Shape;62;p9"/>
          <p:cNvSpPr txBox="1"/>
          <p:nvPr>
            <p:ph idx="6" type="title"/>
          </p:nvPr>
        </p:nvSpPr>
        <p:spPr>
          <a:xfrm>
            <a:off x="228600" y="34254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63" name="Google Shape;63;p9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10530784">
            <a:off x="5058895" y="980700"/>
            <a:ext cx="7337953" cy="573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0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6483983">
            <a:off x="2395549" y="-3969551"/>
            <a:ext cx="7337953" cy="573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575159" y="2020702"/>
            <a:ext cx="2381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2" type="subTitle"/>
          </p:nvPr>
        </p:nvSpPr>
        <p:spPr>
          <a:xfrm>
            <a:off x="3381450" y="2020702"/>
            <a:ext cx="2381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3" type="subTitle"/>
          </p:nvPr>
        </p:nvSpPr>
        <p:spPr>
          <a:xfrm>
            <a:off x="575159" y="3809380"/>
            <a:ext cx="2381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4" type="subTitle"/>
          </p:nvPr>
        </p:nvSpPr>
        <p:spPr>
          <a:xfrm>
            <a:off x="3381450" y="3809380"/>
            <a:ext cx="2381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5" type="subTitle"/>
          </p:nvPr>
        </p:nvSpPr>
        <p:spPr>
          <a:xfrm>
            <a:off x="6187747" y="2020702"/>
            <a:ext cx="2381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6" type="subTitle"/>
          </p:nvPr>
        </p:nvSpPr>
        <p:spPr>
          <a:xfrm>
            <a:off x="6187747" y="3809380"/>
            <a:ext cx="23811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type="title"/>
          </p:nvPr>
        </p:nvSpPr>
        <p:spPr>
          <a:xfrm>
            <a:off x="6945397" y="338830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0"/>
          <p:cNvSpPr txBox="1"/>
          <p:nvPr>
            <p:ph idx="7" type="title"/>
          </p:nvPr>
        </p:nvSpPr>
        <p:spPr>
          <a:xfrm>
            <a:off x="6945397" y="1609577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10"/>
          <p:cNvSpPr txBox="1"/>
          <p:nvPr>
            <p:ph idx="8" type="title"/>
          </p:nvPr>
        </p:nvSpPr>
        <p:spPr>
          <a:xfrm>
            <a:off x="4139850" y="1609877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75" name="Google Shape;75;p10"/>
          <p:cNvSpPr txBox="1"/>
          <p:nvPr>
            <p:ph idx="9" type="title"/>
          </p:nvPr>
        </p:nvSpPr>
        <p:spPr>
          <a:xfrm>
            <a:off x="4139100" y="338830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76" name="Google Shape;76;p10"/>
          <p:cNvSpPr txBox="1"/>
          <p:nvPr>
            <p:ph idx="13" type="title"/>
          </p:nvPr>
        </p:nvSpPr>
        <p:spPr>
          <a:xfrm>
            <a:off x="1332809" y="1609577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4" type="title"/>
          </p:nvPr>
        </p:nvSpPr>
        <p:spPr>
          <a:xfrm>
            <a:off x="1332809" y="3388304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90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78" name="Google Shape;78;p10"/>
          <p:cNvSpPr txBox="1"/>
          <p:nvPr>
            <p:ph idx="15"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1"/>
          <p:cNvSpPr txBox="1"/>
          <p:nvPr>
            <p:ph type="title"/>
          </p:nvPr>
        </p:nvSpPr>
        <p:spPr>
          <a:xfrm>
            <a:off x="1227119" y="3685304"/>
            <a:ext cx="2292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228600" y="329146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0" sz="26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pic>
        <p:nvPicPr>
          <p:cNvPr id="84" name="Google Shape;84;p12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 rot="2517579">
            <a:off x="3900886" y="-3385324"/>
            <a:ext cx="9692321" cy="8371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1416750" y="552438"/>
            <a:ext cx="63105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109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416750" y="1725933"/>
            <a:ext cx="6310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2" type="title"/>
          </p:nvPr>
        </p:nvSpPr>
        <p:spPr>
          <a:xfrm>
            <a:off x="1416750" y="2969413"/>
            <a:ext cx="6310500" cy="12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10900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9" name="Google Shape;89;p13"/>
          <p:cNvSpPr txBox="1"/>
          <p:nvPr>
            <p:ph idx="3" type="subTitle"/>
          </p:nvPr>
        </p:nvSpPr>
        <p:spPr>
          <a:xfrm>
            <a:off x="1416750" y="4142860"/>
            <a:ext cx="6310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0" name="Google Shape;90;p13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4120674">
            <a:off x="3828749" y="1924052"/>
            <a:ext cx="7337950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1163850" y="1130000"/>
            <a:ext cx="35781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37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1163850" y="1778320"/>
            <a:ext cx="28182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/>
        </p:nvSpPr>
        <p:spPr>
          <a:xfrm>
            <a:off x="3034350" y="3201075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2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icons, infographics &amp; images by </a:t>
            </a:r>
            <a:r>
              <a:rPr b="1" i="0" lang="en" sz="1000" u="none" cap="none" strike="noStrike">
                <a:solidFill>
                  <a:schemeClr val="hlink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3"/>
              </a:rPr>
              <a:t>Freepik</a:t>
            </a:r>
            <a:r>
              <a:rPr b="0" i="0" lang="en" sz="10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5" name="Google Shape;95;p14" title="tech.png"/>
          <p:cNvPicPr preferRelativeResize="0"/>
          <p:nvPr/>
        </p:nvPicPr>
        <p:blipFill rotWithShape="1">
          <a:blip r:embed="rId4">
            <a:alphaModFix amt="66000"/>
          </a:blip>
          <a:srcRect b="0" l="16171" r="18704" t="0"/>
          <a:stretch/>
        </p:blipFill>
        <p:spPr>
          <a:xfrm rot="-6250088">
            <a:off x="5539412" y="-907325"/>
            <a:ext cx="9692322" cy="83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99" name="Google Shape;99;p15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-7459296">
            <a:off x="6267849" y="-814076"/>
            <a:ext cx="7337954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16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4" name="Google Shape;104;p16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-2840400" y="296370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rot="6267889">
            <a:off x="762674" y="-3144201"/>
            <a:ext cx="7337953" cy="5739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2" name="Google Shape;112;p18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 flipH="1">
            <a:off x="1806050" y="3231600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16" name="Google Shape;116;p19" title="tech.png"/>
          <p:cNvPicPr preferRelativeResize="0"/>
          <p:nvPr/>
        </p:nvPicPr>
        <p:blipFill rotWithShape="1">
          <a:blip r:embed="rId2">
            <a:alphaModFix amt="56000"/>
          </a:blip>
          <a:srcRect b="0" l="16171" r="18704" t="0"/>
          <a:stretch/>
        </p:blipFill>
        <p:spPr>
          <a:xfrm>
            <a:off x="5048950" y="-297825"/>
            <a:ext cx="7337952" cy="57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 rot="-6250088">
            <a:off x="-3836763" y="-3130825"/>
            <a:ext cx="9692322" cy="83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 title="tech.png"/>
          <p:cNvPicPr preferRelativeResize="0"/>
          <p:nvPr/>
        </p:nvPicPr>
        <p:blipFill rotWithShape="1">
          <a:blip r:embed="rId2">
            <a:alphaModFix amt="66000"/>
          </a:blip>
          <a:srcRect b="0" l="16171" r="18704" t="0"/>
          <a:stretch/>
        </p:blipFill>
        <p:spPr>
          <a:xfrm rot="-6250088">
            <a:off x="1293337" y="767000"/>
            <a:ext cx="9692322" cy="83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4" name="Google Shape;124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Mono"/>
              <a:buNone/>
              <a:defRPr b="0" i="0" sz="2600" u="none" cap="none" strike="noStrike">
                <a:solidFill>
                  <a:schemeClr val="dk1"/>
                </a:solidFill>
                <a:latin typeface="Red Hat Mono"/>
                <a:ea typeface="Red Hat Mono"/>
                <a:cs typeface="Red Hat Mono"/>
                <a:sym typeface="Red Hat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 b="0" i="0" sz="1400" u="none" cap="none" strike="noStrik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4294967295" type="ctrTitle"/>
          </p:nvPr>
        </p:nvSpPr>
        <p:spPr>
          <a:xfrm>
            <a:off x="311708" y="9736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Arial"/>
                <a:ea typeface="Arial"/>
                <a:cs typeface="Arial"/>
                <a:sym typeface="Arial"/>
              </a:rPr>
              <a:t>Applying Physics-Informed Neural Networks to Maxwell’s Equations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 txBox="1"/>
          <p:nvPr>
            <p:ph idx="4294967295" type="subTitle"/>
          </p:nvPr>
        </p:nvSpPr>
        <p:spPr>
          <a:xfrm>
            <a:off x="311700" y="23322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040">
                <a:latin typeface="Arial"/>
                <a:ea typeface="Arial"/>
                <a:cs typeface="Arial"/>
                <a:sym typeface="Arial"/>
              </a:rPr>
              <a:t>Agustin Menjivar², Haley Rathman¹, Antonio Falbo¹, Ava Oberrender¹, Talan Nguyen¹, Sahil Kuwadia⁴, Nobuo Sato³, Alexey Prokudin¹,³</a:t>
            </a:r>
            <a:endParaRPr sz="20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54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1506450" y="3124875"/>
            <a:ext cx="61311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¹ The Pennsylvania State University – Berks Campus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² The Pennsylvania State University – University Park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³ Jefferson Lab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⁴ Microsoft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00" y="4349725"/>
            <a:ext cx="2408935" cy="79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8275" y="3970200"/>
            <a:ext cx="1810650" cy="11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97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What is a Neural Network?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0" y="728200"/>
            <a:ext cx="3459600" cy="29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Neurons as mathematical units interacting via weights and biases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Processing layers for functional approximation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Equation: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 = weight matrix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= bias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ξ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activation function 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Output: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5" title="Pictur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375" y="1195876"/>
            <a:ext cx="5305926" cy="2751751"/>
          </a:xfrm>
          <a:prstGeom prst="rect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" name="Google Shape;142;p25"/>
          <p:cNvSpPr txBox="1"/>
          <p:nvPr/>
        </p:nvSpPr>
        <p:spPr>
          <a:xfrm>
            <a:off x="3681675" y="3947625"/>
            <a:ext cx="49953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General Schematic of a Neural Network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3" name="Google Shape;143;p25" title="equation_preview_rev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4108" y="4228343"/>
            <a:ext cx="2287388" cy="4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720000" y="418809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Neural Networks: Sine Modeling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31825" y="1110375"/>
            <a:ext cx="299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Task: Learning harmonic oscillation (sin x)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data: 1000 data points from [0, 2pi] with 10% Gaussian noise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Setup: Single-layer net, 20 nodes, Tanh activation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6" title="Picture1.jpg"/>
          <p:cNvPicPr preferRelativeResize="0"/>
          <p:nvPr/>
        </p:nvPicPr>
        <p:blipFill rotWithShape="1">
          <a:blip r:embed="rId3">
            <a:alphaModFix/>
          </a:blip>
          <a:srcRect b="0" l="0" r="6288" t="0"/>
          <a:stretch/>
        </p:blipFill>
        <p:spPr>
          <a:xfrm>
            <a:off x="3217500" y="1516875"/>
            <a:ext cx="5800501" cy="2603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26"/>
          <p:cNvSpPr txBox="1"/>
          <p:nvPr/>
        </p:nvSpPr>
        <p:spPr>
          <a:xfrm>
            <a:off x="3577800" y="4120263"/>
            <a:ext cx="50799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Neural Network modeling sin(x) with training data.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 title="Picture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1538" y="1633924"/>
            <a:ext cx="5212424" cy="20824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" name="Google Shape;157;p27"/>
          <p:cNvSpPr txBox="1"/>
          <p:nvPr>
            <p:ph type="title"/>
          </p:nvPr>
        </p:nvSpPr>
        <p:spPr>
          <a:xfrm>
            <a:off x="720000" y="40133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The Pitfalls of the Standard Neural Network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280475" y="1142050"/>
            <a:ext cx="312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'Interpolation Trap': Excellent in-domain prediction, but 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struggles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outside of 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Memorization of points but drifts to activation function behavior (Tanh) outside of training.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3688938" y="3716342"/>
            <a:ext cx="5037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Neural Network modeling sin(x) with training data.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8" title="Picture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600" y="1195875"/>
            <a:ext cx="4532111" cy="208567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5" name="Google Shape;165;p28"/>
          <p:cNvSpPr txBox="1"/>
          <p:nvPr>
            <p:ph type="title"/>
          </p:nvPr>
        </p:nvSpPr>
        <p:spPr>
          <a:xfrm>
            <a:off x="-152100" y="130050"/>
            <a:ext cx="944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The Physics-Informed Neural Network (PINN) Solution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-47525" y="646417"/>
            <a:ext cx="4286400" cy="15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Raissi Framework (2019): Embedding laws directly into the Loss Function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Loss = ODE Loss + BC Loss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8" title="pic pinn soln.jpg"/>
          <p:cNvPicPr preferRelativeResize="0"/>
          <p:nvPr/>
        </p:nvPicPr>
        <p:blipFill rotWithShape="1">
          <a:blip r:embed="rId4">
            <a:alphaModFix/>
          </a:blip>
          <a:srcRect b="0" l="51054" r="609" t="6244"/>
          <a:stretch/>
        </p:blipFill>
        <p:spPr>
          <a:xfrm>
            <a:off x="599500" y="2241320"/>
            <a:ext cx="3451950" cy="25690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p28"/>
          <p:cNvSpPr txBox="1"/>
          <p:nvPr/>
        </p:nvSpPr>
        <p:spPr>
          <a:xfrm>
            <a:off x="4277150" y="3846016"/>
            <a:ext cx="4755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Enforces a physical 'conscience' even in zero-data regions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-535112" y="4810386"/>
            <a:ext cx="60960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Physics-informed Fourier neural network prediction of sin(x).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3988650" y="3341975"/>
            <a:ext cx="5514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Schematic of a Physics-Informed Neural Network (PINN).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71" name="Google Shape;171;p28"/>
          <p:cNvCxnSpPr/>
          <p:nvPr/>
        </p:nvCxnSpPr>
        <p:spPr>
          <a:xfrm flipH="1" rot="10800000">
            <a:off x="190250" y="2150675"/>
            <a:ext cx="4039800" cy="2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8"/>
          <p:cNvCxnSpPr/>
          <p:nvPr/>
        </p:nvCxnSpPr>
        <p:spPr>
          <a:xfrm flipH="1" rot="10800000">
            <a:off x="4654400" y="3774664"/>
            <a:ext cx="43860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555200" y="111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Optimization: Activation Function Choice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72875" y="1078550"/>
            <a:ext cx="326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 of 10+ activation functions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 Tanh leads to numerical drift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Cosine Activation was 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superior, as t</a:t>
            </a:r>
            <a:r>
              <a:rPr lang="e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behavior of the activation function should reflect the behavior of the differential equation (Wang et al., 2023)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575" y="1395182"/>
            <a:ext cx="5586225" cy="2353142"/>
          </a:xfrm>
          <a:prstGeom prst="rect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" name="Google Shape;180;p29"/>
          <p:cNvSpPr txBox="1"/>
          <p:nvPr/>
        </p:nvSpPr>
        <p:spPr>
          <a:xfrm>
            <a:off x="4131537" y="3820600"/>
            <a:ext cx="4302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Behavior</a:t>
            </a:r>
            <a:r>
              <a:rPr lang="en" sz="1500"/>
              <a:t> </a:t>
            </a:r>
            <a:r>
              <a:rPr lang="en" sz="1500"/>
              <a:t>of 10+ activation functions with PINN.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167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The Next Target: Maxwell’s Equations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193875"/>
            <a:ext cx="38769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Coupled first-order 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Differential Equations (Faraday and Ampere Laws)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Predicting (E, B) from (x, t)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Self-sustaining interaction of electromagnetic fields as the target behavior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0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850" y="2653703"/>
            <a:ext cx="4385450" cy="2059022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30"/>
          <p:cNvSpPr txBox="1"/>
          <p:nvPr/>
        </p:nvSpPr>
        <p:spPr>
          <a:xfrm>
            <a:off x="4660025" y="4712725"/>
            <a:ext cx="39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Target </a:t>
            </a:r>
            <a:r>
              <a:rPr lang="en">
                <a:solidFill>
                  <a:schemeClr val="dk1"/>
                </a:solidFill>
              </a:rPr>
              <a:t>Behavior</a:t>
            </a:r>
            <a:r>
              <a:rPr lang="en">
                <a:solidFill>
                  <a:schemeClr val="dk1"/>
                </a:solidFill>
              </a:rPr>
              <a:t> of Maxwell’s Equations.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9" name="Google Shape;189;p30" title="Screenshot_2026-03-15_104506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88" y="892100"/>
            <a:ext cx="3904067" cy="1609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180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The Architecture to Scale to Maxwell’s Equations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79950" y="863550"/>
            <a:ext cx="323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Utilizes a deep 6-layer architecture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High-Dimensional Mapping: Maps (x, t) input coordinates into a dual-output vector field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Physics-Aligned Activation: Implements Cosine activation functions.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31" title="Screenshot 2026-03-15 105649.png"/>
          <p:cNvPicPr preferRelativeResize="0"/>
          <p:nvPr/>
        </p:nvPicPr>
        <p:blipFill rotWithShape="1">
          <a:blip r:embed="rId3">
            <a:alphaModFix/>
          </a:blip>
          <a:srcRect b="0" l="0" r="24265" t="0"/>
          <a:stretch/>
        </p:blipFill>
        <p:spPr>
          <a:xfrm>
            <a:off x="3469050" y="1215038"/>
            <a:ext cx="5518350" cy="2713425"/>
          </a:xfrm>
          <a:prstGeom prst="rect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p31"/>
          <p:cNvSpPr txBox="1"/>
          <p:nvPr/>
        </p:nvSpPr>
        <p:spPr>
          <a:xfrm>
            <a:off x="3085425" y="3928450"/>
            <a:ext cx="628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Python implementation of Maxwell PINN architecture.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172700" y="10465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Utilizing </a:t>
            </a:r>
            <a:r>
              <a:rPr lang="en" sz="3000">
                <a:latin typeface="Arial"/>
                <a:ea typeface="Arial"/>
                <a:cs typeface="Arial"/>
                <a:sym typeface="Arial"/>
              </a:rPr>
              <a:t>Curriculum Learning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172700" y="616175"/>
            <a:ext cx="91440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 Stability: Prevents divergence in complex training by navigating the loss landscape as suggested by Krishnapriyan et al. (2021).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1 (Epoch 0-600): Focuses on mastery of first-order Maxwell coupling.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2 (Epoch 600+): Injection of second-derivative wave residuals.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32" title="Screenshot 2026-03-15 105954.png"/>
          <p:cNvPicPr preferRelativeResize="0"/>
          <p:nvPr/>
        </p:nvPicPr>
        <p:blipFill rotWithShape="1">
          <a:blip r:embed="rId3">
            <a:alphaModFix/>
          </a:blip>
          <a:srcRect b="0" l="5430" r="2852" t="0"/>
          <a:stretch/>
        </p:blipFill>
        <p:spPr>
          <a:xfrm>
            <a:off x="425313" y="2333475"/>
            <a:ext cx="8293374" cy="2507800"/>
          </a:xfrm>
          <a:prstGeom prst="rect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p32"/>
          <p:cNvSpPr txBox="1"/>
          <p:nvPr/>
        </p:nvSpPr>
        <p:spPr>
          <a:xfrm>
            <a:off x="1918200" y="4789209"/>
            <a:ext cx="530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Python two-phase curriculum learning strategy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3" title="download.png"/>
          <p:cNvPicPr preferRelativeResize="0"/>
          <p:nvPr/>
        </p:nvPicPr>
        <p:blipFill rotWithShape="1">
          <a:blip r:embed="rId3">
            <a:alphaModFix/>
          </a:blip>
          <a:srcRect b="8717" l="1342" r="0" t="0"/>
          <a:stretch/>
        </p:blipFill>
        <p:spPr>
          <a:xfrm>
            <a:off x="4250775" y="1265526"/>
            <a:ext cx="4693000" cy="327942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1" name="Google Shape;211;p33"/>
          <p:cNvSpPr txBox="1"/>
          <p:nvPr>
            <p:ph type="title"/>
          </p:nvPr>
        </p:nvSpPr>
        <p:spPr>
          <a:xfrm>
            <a:off x="720000" y="261516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Maxwell Results: High-Resolution Reconstruction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307492"/>
            <a:ext cx="378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Perfect phase alignment without interior 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Driven purely by Boundary Conditions and Physics Residuals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loss minimized to high-precision engineering scales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4735925" y="4544955"/>
            <a:ext cx="3722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3D reconstruction of coupled fields,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29649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Future Work: Nucleon Structure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189000"/>
            <a:ext cx="475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Inverse Problem Solvers: </a:t>
            </a: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Identifying unknown material properties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Modeling DGLAP Equations: Integro-differential encoding of nucleon structure.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QR code to our Maxwell’s Equations Google Colab notebook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4" title="qr-cod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600" y="1327975"/>
            <a:ext cx="2663826" cy="26638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311700" y="250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Acknowledgments &amp; Questions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720000" y="1152475"/>
            <a:ext cx="7704000" cy="38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would like to thank </a:t>
            </a: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Co-authors, Jefferson Lab, and NSF Support!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will now take questions!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 Trends 2026 by Slidesgo">
  <a:themeElements>
    <a:clrScheme name="Simple Light">
      <a:dk1>
        <a:srgbClr val="222222"/>
      </a:dk1>
      <a:lt1>
        <a:srgbClr val="F8F8F8"/>
      </a:lt1>
      <a:dk2>
        <a:srgbClr val="222222"/>
      </a:dk2>
      <a:lt2>
        <a:srgbClr val="22222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