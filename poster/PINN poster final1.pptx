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36576000" cy="29260800"/>
  <p:notesSz cx="6858000" cy="9144000"/>
  <p:embeddedFontLst>
    <p:embeddedFont>
      <p:font typeface="Cambria Math" panose="02040503050406030204" pitchFamily="18" charset="0"/>
      <p:regular r:id="rId3"/>
    </p:embeddedFont>
  </p:embeddedFontLst>
  <p:defaultTex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E6F2"/>
    <a:srgbClr val="203864"/>
    <a:srgbClr val="A9B8D0"/>
    <a:srgbClr val="1F3F7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70"/>
    <p:restoredTop sz="94686"/>
  </p:normalViewPr>
  <p:slideViewPr>
    <p:cSldViewPr snapToGrid="0">
      <p:cViewPr>
        <p:scale>
          <a:sx n="60" d="100"/>
          <a:sy n="60" d="100"/>
        </p:scale>
        <p:origin x="-1256" y="528"/>
      </p:cViewPr>
      <p:guideLst>
        <p:guide orient="horz" pos="288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font" Target="fonts/font1.fntdata"/><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840568"/>
            <a:ext cx="10363200" cy="1960033"/>
          </a:xfrm>
        </p:spPr>
        <p:txBody>
          <a:bodyPr/>
          <a:lstStyle/>
          <a:p>
            <a:r>
              <a:rPr lang="en-US"/>
              <a:t>Click to edit Master title style</a:t>
            </a:r>
          </a:p>
        </p:txBody>
      </p:sp>
      <p:sp>
        <p:nvSpPr>
          <p:cNvPr id="3" name="Subtitle 2"/>
          <p:cNvSpPr>
            <a:spLocks noGrp="1"/>
          </p:cNvSpPr>
          <p:nvPr>
            <p:ph type="subTitle" idx="1"/>
          </p:nvPr>
        </p:nvSpPr>
        <p:spPr>
          <a:xfrm>
            <a:off x="1828800" y="5181600"/>
            <a:ext cx="8534400" cy="23368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5875867"/>
            <a:ext cx="10363200" cy="1816100"/>
          </a:xfrm>
        </p:spPr>
        <p:txBody>
          <a:bodyPr anchor="t"/>
          <a:lstStyle>
            <a:lvl1pPr algn="l">
              <a:defRPr sz="5333" b="1" cap="all"/>
            </a:lvl1pPr>
          </a:lstStyle>
          <a:p>
            <a:r>
              <a:rPr lang="en-US"/>
              <a:t>Click to edit Master title style</a:t>
            </a:r>
          </a:p>
        </p:txBody>
      </p:sp>
      <p:sp>
        <p:nvSpPr>
          <p:cNvPr id="3" name="Text Placeholder 2"/>
          <p:cNvSpPr>
            <a:spLocks noGrp="1"/>
          </p:cNvSpPr>
          <p:nvPr>
            <p:ph type="body" idx="1"/>
          </p:nvPr>
        </p:nvSpPr>
        <p:spPr>
          <a:xfrm>
            <a:off x="963084" y="3875618"/>
            <a:ext cx="10363200" cy="2000249"/>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2133601"/>
            <a:ext cx="5384800" cy="6034617"/>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2133601"/>
            <a:ext cx="5384800" cy="6034617"/>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2046817"/>
            <a:ext cx="5386917" cy="853016"/>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609600" y="2899833"/>
            <a:ext cx="5386917" cy="5268384"/>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2046817"/>
            <a:ext cx="5389033" cy="853016"/>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193368" y="2899833"/>
            <a:ext cx="5389033" cy="5268384"/>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364067"/>
            <a:ext cx="4011084" cy="1549400"/>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364067"/>
            <a:ext cx="6815667" cy="7804151"/>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913467"/>
            <a:ext cx="4011084" cy="6254751"/>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6400800"/>
            <a:ext cx="7315200" cy="755651"/>
          </a:xfrm>
        </p:spPr>
        <p:txBody>
          <a:bodyPr anchor="b"/>
          <a:lstStyle>
            <a:lvl1pPr algn="l">
              <a:defRPr sz="2667" b="1"/>
            </a:lvl1pPr>
          </a:lstStyle>
          <a:p>
            <a:r>
              <a:rPr lang="en-US"/>
              <a:t>Click to edit Master title style</a:t>
            </a:r>
          </a:p>
        </p:txBody>
      </p:sp>
      <p:sp>
        <p:nvSpPr>
          <p:cNvPr id="3" name="Picture Placeholder 2"/>
          <p:cNvSpPr>
            <a:spLocks noGrp="1"/>
          </p:cNvSpPr>
          <p:nvPr>
            <p:ph type="pic" idx="1"/>
          </p:nvPr>
        </p:nvSpPr>
        <p:spPr>
          <a:xfrm>
            <a:off x="2389717" y="817033"/>
            <a:ext cx="7315200" cy="5486400"/>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endParaRPr lang="en-US"/>
          </a:p>
        </p:txBody>
      </p:sp>
      <p:sp>
        <p:nvSpPr>
          <p:cNvPr id="4" name="Text Placeholder 3"/>
          <p:cNvSpPr>
            <a:spLocks noGrp="1"/>
          </p:cNvSpPr>
          <p:nvPr>
            <p:ph type="body" sz="half" idx="2"/>
          </p:nvPr>
        </p:nvSpPr>
        <p:spPr>
          <a:xfrm>
            <a:off x="2389717" y="7156451"/>
            <a:ext cx="7315200" cy="1073149"/>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366185"/>
            <a:ext cx="2743200" cy="780203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366185"/>
            <a:ext cx="8026400" cy="78020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366184"/>
            <a:ext cx="10972800" cy="1524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2133601"/>
            <a:ext cx="10972800" cy="60346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8475134"/>
            <a:ext cx="2844800" cy="486833"/>
          </a:xfrm>
          <a:prstGeom prst="rect">
            <a:avLst/>
          </a:prstGeom>
        </p:spPr>
        <p:txBody>
          <a:bodyPr vert="horz" lIns="91440" tIns="45720" rIns="91440" bIns="45720" rtlCol="0" anchor="ctr"/>
          <a:lstStyle>
            <a:lvl1pPr algn="l">
              <a:defRPr sz="1600">
                <a:solidFill>
                  <a:schemeClr val="tx1">
                    <a:tint val="75000"/>
                  </a:schemeClr>
                </a:solidFill>
              </a:defRPr>
            </a:lvl1pPr>
          </a:lstStyle>
          <a:p>
            <a:fld id="{1D8BD707-D9CF-40AE-B4C6-C98DA3205C09}" type="datetimeFigureOut">
              <a:rPr lang="en-US" smtClean="0"/>
              <a:pPr/>
              <a:t>4/13/26</a:t>
            </a:fld>
            <a:endParaRPr lang="en-US"/>
          </a:p>
        </p:txBody>
      </p:sp>
      <p:sp>
        <p:nvSpPr>
          <p:cNvPr id="5" name="Footer Placeholder 4"/>
          <p:cNvSpPr>
            <a:spLocks noGrp="1"/>
          </p:cNvSpPr>
          <p:nvPr>
            <p:ph type="ftr" sz="quarter" idx="3"/>
          </p:nvPr>
        </p:nvSpPr>
        <p:spPr>
          <a:xfrm>
            <a:off x="4165600" y="8475134"/>
            <a:ext cx="3860800" cy="486833"/>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8475134"/>
            <a:ext cx="2844800" cy="486833"/>
          </a:xfrm>
          <a:prstGeom prst="rect">
            <a:avLst/>
          </a:prstGeom>
        </p:spPr>
        <p:txBody>
          <a:bodyPr vert="horz" lIns="91440" tIns="45720" rIns="91440" bIns="45720" rtlCol="0" anchor="ctr"/>
          <a:lstStyle>
            <a:lvl1pPr algn="r">
              <a:defRPr sz="16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BF570721-E705-60D2-AFE0-E73276E228AC}"/>
              </a:ext>
            </a:extLst>
          </p:cNvPr>
          <p:cNvPicPr>
            <a:picLocks noChangeAspect="1"/>
          </p:cNvPicPr>
          <p:nvPr/>
        </p:nvPicPr>
        <p:blipFill>
          <a:blip r:embed="rId2"/>
          <a:stretch>
            <a:fillRect/>
          </a:stretch>
        </p:blipFill>
        <p:spPr>
          <a:xfrm>
            <a:off x="0" y="2954354"/>
            <a:ext cx="36576000" cy="26306446"/>
          </a:xfrm>
          <a:prstGeom prst="rect">
            <a:avLst/>
          </a:prstGeom>
        </p:spPr>
      </p:pic>
      <p:grpSp>
        <p:nvGrpSpPr>
          <p:cNvPr id="2" name="Group 2"/>
          <p:cNvGrpSpPr/>
          <p:nvPr/>
        </p:nvGrpSpPr>
        <p:grpSpPr>
          <a:xfrm>
            <a:off x="-20887" y="-1007436"/>
            <a:ext cx="37000924" cy="3954781"/>
            <a:chOff x="0" y="-95250"/>
            <a:chExt cx="3386667" cy="366183"/>
          </a:xfrm>
        </p:grpSpPr>
        <p:sp>
          <p:nvSpPr>
            <p:cNvPr id="3" name="Freeform 3"/>
            <p:cNvSpPr/>
            <p:nvPr/>
          </p:nvSpPr>
          <p:spPr>
            <a:xfrm>
              <a:off x="0" y="-12412"/>
              <a:ext cx="3386667" cy="283345"/>
            </a:xfrm>
            <a:custGeom>
              <a:avLst/>
              <a:gdLst/>
              <a:ahLst/>
              <a:cxnLst/>
              <a:rect l="l" t="t" r="r" b="b"/>
              <a:pathLst>
                <a:path w="3386667" h="270933">
                  <a:moveTo>
                    <a:pt x="0" y="0"/>
                  </a:moveTo>
                  <a:lnTo>
                    <a:pt x="3386667" y="0"/>
                  </a:lnTo>
                  <a:lnTo>
                    <a:pt x="3386667" y="270933"/>
                  </a:lnTo>
                  <a:lnTo>
                    <a:pt x="0" y="270933"/>
                  </a:lnTo>
                  <a:close/>
                </a:path>
              </a:pathLst>
            </a:custGeom>
            <a:solidFill>
              <a:srgbClr val="1E407C"/>
            </a:solidFill>
          </p:spPr>
          <p:txBody>
            <a:bodyPr/>
            <a:lstStyle/>
            <a:p>
              <a:endParaRPr lang="en-US"/>
            </a:p>
          </p:txBody>
        </p:sp>
        <p:sp>
          <p:nvSpPr>
            <p:cNvPr id="4" name="TextBox 4"/>
            <p:cNvSpPr txBox="1"/>
            <p:nvPr/>
          </p:nvSpPr>
          <p:spPr>
            <a:xfrm>
              <a:off x="0" y="-95250"/>
              <a:ext cx="3386667" cy="366183"/>
            </a:xfrm>
            <a:prstGeom prst="rect">
              <a:avLst/>
            </a:prstGeom>
          </p:spPr>
          <p:txBody>
            <a:bodyPr lIns="67733" tIns="67733" rIns="67733" bIns="67733" rtlCol="0" anchor="ctr"/>
            <a:lstStyle/>
            <a:p>
              <a:pPr algn="ctr">
                <a:lnSpc>
                  <a:spcPts val="9333"/>
                </a:lnSpc>
              </a:pPr>
              <a:endParaRPr sz="3200"/>
            </a:p>
          </p:txBody>
        </p:sp>
      </p:grpSp>
      <p:sp>
        <p:nvSpPr>
          <p:cNvPr id="5" name="Freeform 5"/>
          <p:cNvSpPr/>
          <p:nvPr/>
        </p:nvSpPr>
        <p:spPr>
          <a:xfrm>
            <a:off x="0" y="0"/>
            <a:ext cx="2913189" cy="2926080"/>
          </a:xfrm>
          <a:custGeom>
            <a:avLst/>
            <a:gdLst/>
            <a:ahLst/>
            <a:cxnLst/>
            <a:rect l="l" t="t" r="r" b="b"/>
            <a:pathLst>
              <a:path w="2184892" h="2194560">
                <a:moveTo>
                  <a:pt x="0" y="0"/>
                </a:moveTo>
                <a:lnTo>
                  <a:pt x="2184892" y="0"/>
                </a:lnTo>
                <a:lnTo>
                  <a:pt x="2184892" y="2194560"/>
                </a:lnTo>
                <a:lnTo>
                  <a:pt x="0" y="2194560"/>
                </a:lnTo>
                <a:lnTo>
                  <a:pt x="0" y="0"/>
                </a:lnTo>
                <a:close/>
              </a:path>
            </a:pathLst>
          </a:custGeom>
          <a:blipFill>
            <a:blip r:embed="rId3"/>
            <a:stretch>
              <a:fillRect/>
            </a:stretch>
          </a:blipFill>
        </p:spPr>
        <p:txBody>
          <a:bodyPr/>
          <a:lstStyle/>
          <a:p>
            <a:endParaRPr lang="en-US"/>
          </a:p>
        </p:txBody>
      </p:sp>
      <p:sp>
        <p:nvSpPr>
          <p:cNvPr id="6" name="Freeform 6"/>
          <p:cNvSpPr/>
          <p:nvPr/>
        </p:nvSpPr>
        <p:spPr>
          <a:xfrm>
            <a:off x="30135650" y="25040"/>
            <a:ext cx="6466475" cy="2926080"/>
          </a:xfrm>
          <a:custGeom>
            <a:avLst/>
            <a:gdLst/>
            <a:ahLst/>
            <a:cxnLst/>
            <a:rect l="l" t="t" r="r" b="b"/>
            <a:pathLst>
              <a:path w="4849856" h="2194560">
                <a:moveTo>
                  <a:pt x="0" y="0"/>
                </a:moveTo>
                <a:lnTo>
                  <a:pt x="4849856" y="0"/>
                </a:lnTo>
                <a:lnTo>
                  <a:pt x="4849856" y="2194560"/>
                </a:lnTo>
                <a:lnTo>
                  <a:pt x="0" y="2194560"/>
                </a:lnTo>
                <a:lnTo>
                  <a:pt x="0" y="0"/>
                </a:lnTo>
                <a:close/>
              </a:path>
            </a:pathLst>
          </a:custGeom>
          <a:blipFill>
            <a:blip r:embed="rId4"/>
            <a:stretch>
              <a:fillRect/>
            </a:stretch>
          </a:blipFill>
        </p:spPr>
        <p:txBody>
          <a:bodyPr/>
          <a:lstStyle/>
          <a:p>
            <a:endParaRPr lang="en-US"/>
          </a:p>
        </p:txBody>
      </p:sp>
      <p:sp>
        <p:nvSpPr>
          <p:cNvPr id="16" name="TextBox 16"/>
          <p:cNvSpPr txBox="1"/>
          <p:nvPr/>
        </p:nvSpPr>
        <p:spPr>
          <a:xfrm>
            <a:off x="3971342" y="331591"/>
            <a:ext cx="26619692" cy="1248419"/>
          </a:xfrm>
          <a:prstGeom prst="rect">
            <a:avLst/>
          </a:prstGeom>
        </p:spPr>
        <p:txBody>
          <a:bodyPr wrap="square" lIns="0" tIns="0" rIns="0" bIns="0" rtlCol="0" anchor="t">
            <a:spAutoFit/>
          </a:bodyPr>
          <a:lstStyle/>
          <a:p>
            <a:pPr algn="ctr">
              <a:lnSpc>
                <a:spcPts val="10078"/>
              </a:lnSpc>
              <a:spcBef>
                <a:spcPct val="0"/>
              </a:spcBef>
            </a:pPr>
            <a:r>
              <a:rPr lang="en-US" sz="7200" dirty="0">
                <a:solidFill>
                  <a:srgbClr val="FFFF00"/>
                </a:solidFill>
                <a:latin typeface="Palatino" pitchFamily="2" charset="77"/>
                <a:ea typeface="Palatino" pitchFamily="2" charset="77"/>
                <a:cs typeface="Arial" panose="020B0604020202020204" pitchFamily="34" charset="0"/>
                <a:sym typeface="Montserrat Extra-Light"/>
              </a:rPr>
              <a:t>A Study of Applications of Physics-Informed Neural Networks</a:t>
            </a:r>
          </a:p>
        </p:txBody>
      </p:sp>
      <p:sp>
        <p:nvSpPr>
          <p:cNvPr id="18" name="TextBox 18"/>
          <p:cNvSpPr txBox="1"/>
          <p:nvPr/>
        </p:nvSpPr>
        <p:spPr>
          <a:xfrm>
            <a:off x="3729614" y="1617921"/>
            <a:ext cx="27652596" cy="492443"/>
          </a:xfrm>
          <a:prstGeom prst="rect">
            <a:avLst/>
          </a:prstGeom>
        </p:spPr>
        <p:txBody>
          <a:bodyPr wrap="square" lIns="0" tIns="0" rIns="0" bIns="0" rtlCol="0" anchor="t">
            <a:spAutoFit/>
          </a:bodyPr>
          <a:lstStyle/>
          <a:p>
            <a:pPr algn="ctr"/>
            <a:r>
              <a:rPr lang="en-US" sz="3200" dirty="0">
                <a:solidFill>
                  <a:schemeClr val="bg1"/>
                </a:solidFill>
                <a:latin typeface="Palatino" pitchFamily="2" charset="77"/>
                <a:ea typeface="Palatino" pitchFamily="2" charset="77"/>
                <a:cs typeface="Arial"/>
              </a:rPr>
              <a:t>Antonio Falbo</a:t>
            </a:r>
            <a:r>
              <a:rPr lang="en-US" sz="3200" baseline="30000" dirty="0">
                <a:solidFill>
                  <a:schemeClr val="bg1"/>
                </a:solidFill>
                <a:latin typeface="Palatino" pitchFamily="2" charset="77"/>
                <a:ea typeface="Palatino" pitchFamily="2" charset="77"/>
                <a:cs typeface="Arial"/>
              </a:rPr>
              <a:t>1</a:t>
            </a:r>
            <a:r>
              <a:rPr lang="en-US" sz="3200" dirty="0">
                <a:solidFill>
                  <a:schemeClr val="bg1"/>
                </a:solidFill>
                <a:latin typeface="Palatino" pitchFamily="2" charset="77"/>
                <a:ea typeface="Palatino" pitchFamily="2" charset="77"/>
                <a:cs typeface="Arial"/>
              </a:rPr>
              <a:t>, Talan Nguyen</a:t>
            </a:r>
            <a:r>
              <a:rPr lang="en-US" sz="3200" baseline="30000" dirty="0">
                <a:solidFill>
                  <a:schemeClr val="bg1"/>
                </a:solidFill>
                <a:latin typeface="Palatino" pitchFamily="2" charset="77"/>
                <a:ea typeface="Palatino" pitchFamily="2" charset="77"/>
                <a:cs typeface="Arial"/>
              </a:rPr>
              <a:t>1</a:t>
            </a:r>
            <a:r>
              <a:rPr lang="en-US" sz="3200" dirty="0">
                <a:solidFill>
                  <a:schemeClr val="bg1"/>
                </a:solidFill>
                <a:latin typeface="Palatino" pitchFamily="2" charset="77"/>
                <a:ea typeface="Palatino" pitchFamily="2" charset="77"/>
                <a:cs typeface="Arial"/>
              </a:rPr>
              <a:t>, Haley Rathman</a:t>
            </a:r>
            <a:r>
              <a:rPr lang="en-US" sz="3200" baseline="30000" dirty="0">
                <a:solidFill>
                  <a:schemeClr val="bg1"/>
                </a:solidFill>
                <a:latin typeface="Palatino" pitchFamily="2" charset="77"/>
                <a:ea typeface="Palatino" pitchFamily="2" charset="77"/>
                <a:cs typeface="Arial"/>
              </a:rPr>
              <a:t>1</a:t>
            </a:r>
            <a:r>
              <a:rPr lang="en-US" sz="3200" dirty="0">
                <a:solidFill>
                  <a:schemeClr val="bg1"/>
                </a:solidFill>
                <a:latin typeface="Palatino" pitchFamily="2" charset="77"/>
                <a:ea typeface="Palatino" pitchFamily="2" charset="77"/>
                <a:cs typeface="Arial"/>
              </a:rPr>
              <a:t>, Ryan Jacobs</a:t>
            </a:r>
            <a:r>
              <a:rPr lang="en-US" sz="3200" baseline="30000" dirty="0">
                <a:solidFill>
                  <a:schemeClr val="bg1"/>
                </a:solidFill>
                <a:latin typeface="Palatino" pitchFamily="2" charset="77"/>
                <a:ea typeface="Palatino" pitchFamily="2" charset="77"/>
                <a:cs typeface="Arial"/>
              </a:rPr>
              <a:t>1</a:t>
            </a:r>
            <a:r>
              <a:rPr lang="en-US" sz="3200" dirty="0">
                <a:solidFill>
                  <a:schemeClr val="bg1"/>
                </a:solidFill>
                <a:latin typeface="Palatino" pitchFamily="2" charset="77"/>
                <a:ea typeface="Palatino" pitchFamily="2" charset="77"/>
                <a:cs typeface="Arial"/>
              </a:rPr>
              <a:t>, Agustin Menjivar</a:t>
            </a:r>
            <a:r>
              <a:rPr lang="en-US" sz="3200" baseline="30000" dirty="0">
                <a:solidFill>
                  <a:schemeClr val="bg1"/>
                </a:solidFill>
                <a:latin typeface="Palatino" pitchFamily="2" charset="77"/>
                <a:ea typeface="Palatino" pitchFamily="2" charset="77"/>
                <a:cs typeface="Arial"/>
              </a:rPr>
              <a:t>2</a:t>
            </a:r>
            <a:r>
              <a:rPr lang="en-US" sz="3200" dirty="0">
                <a:solidFill>
                  <a:schemeClr val="bg1"/>
                </a:solidFill>
                <a:latin typeface="Palatino" pitchFamily="2" charset="77"/>
                <a:ea typeface="Palatino" pitchFamily="2" charset="77"/>
                <a:cs typeface="Arial"/>
              </a:rPr>
              <a:t>, Ava Oberrender</a:t>
            </a:r>
            <a:r>
              <a:rPr lang="en-US" sz="3200" baseline="30000" dirty="0">
                <a:solidFill>
                  <a:schemeClr val="bg1"/>
                </a:solidFill>
                <a:latin typeface="Palatino" pitchFamily="2" charset="77"/>
                <a:ea typeface="Palatino" pitchFamily="2" charset="77"/>
                <a:cs typeface="Arial"/>
              </a:rPr>
              <a:t>1</a:t>
            </a:r>
            <a:r>
              <a:rPr lang="en-US" sz="3200" dirty="0">
                <a:solidFill>
                  <a:schemeClr val="bg1"/>
                </a:solidFill>
                <a:latin typeface="Palatino" pitchFamily="2" charset="77"/>
                <a:ea typeface="Palatino" pitchFamily="2" charset="77"/>
                <a:cs typeface="Arial"/>
              </a:rPr>
              <a:t>, and Alexey Prokudin</a:t>
            </a:r>
            <a:r>
              <a:rPr lang="en-US" sz="3200" baseline="30000" dirty="0">
                <a:solidFill>
                  <a:schemeClr val="bg1"/>
                </a:solidFill>
                <a:latin typeface="Palatino" pitchFamily="2" charset="77"/>
                <a:ea typeface="Palatino" pitchFamily="2" charset="77"/>
                <a:cs typeface="Arial"/>
              </a:rPr>
              <a:t>1,3</a:t>
            </a:r>
            <a:endParaRPr lang="en-US" sz="3200" dirty="0">
              <a:solidFill>
                <a:schemeClr val="bg1"/>
              </a:solidFill>
              <a:latin typeface="Palatino" pitchFamily="2" charset="77"/>
              <a:ea typeface="Palatino" pitchFamily="2" charset="77"/>
              <a:cs typeface="Calibri"/>
            </a:endParaRPr>
          </a:p>
        </p:txBody>
      </p:sp>
      <p:sp>
        <p:nvSpPr>
          <p:cNvPr id="66" name="TextBox 65">
            <a:extLst>
              <a:ext uri="{FF2B5EF4-FFF2-40B4-BE49-F238E27FC236}">
                <a16:creationId xmlns:a16="http://schemas.microsoft.com/office/drawing/2014/main" id="{5B5EC78C-A867-4E8E-B281-2EE11C84BC65}"/>
              </a:ext>
            </a:extLst>
          </p:cNvPr>
          <p:cNvSpPr txBox="1"/>
          <p:nvPr/>
        </p:nvSpPr>
        <p:spPr>
          <a:xfrm>
            <a:off x="3514141" y="2240840"/>
            <a:ext cx="27652596" cy="646331"/>
          </a:xfrm>
          <a:prstGeom prst="rect">
            <a:avLst/>
          </a:prstGeom>
          <a:noFill/>
        </p:spPr>
        <p:txBody>
          <a:bodyPr wrap="square" lIns="91440" tIns="45720" rIns="91440" bIns="45720" anchor="t">
            <a:spAutoFit/>
          </a:bodyPr>
          <a:lstStyle/>
          <a:p>
            <a:pPr algn="ctr"/>
            <a:r>
              <a:rPr lang="en-US" sz="3600" baseline="30000" dirty="0">
                <a:solidFill>
                  <a:schemeClr val="bg1"/>
                </a:solidFill>
                <a:latin typeface="Palatino" pitchFamily="2" charset="77"/>
                <a:ea typeface="Palatino" pitchFamily="2" charset="77"/>
                <a:cs typeface="Arial"/>
              </a:rPr>
              <a:t>1 – The Pennsylvania State University Berks, 2 – The Pennsylvania State University, 3 – Jefferson Lab</a:t>
            </a:r>
            <a:endParaRPr lang="en-US" sz="3600" dirty="0">
              <a:solidFill>
                <a:schemeClr val="bg1"/>
              </a:solidFill>
              <a:latin typeface="Palatino" pitchFamily="2" charset="77"/>
              <a:ea typeface="Palatino" pitchFamily="2" charset="77"/>
              <a:cs typeface="Arial"/>
            </a:endParaRPr>
          </a:p>
        </p:txBody>
      </p:sp>
      <p:grpSp>
        <p:nvGrpSpPr>
          <p:cNvPr id="9" name="Group 8">
            <a:extLst>
              <a:ext uri="{FF2B5EF4-FFF2-40B4-BE49-F238E27FC236}">
                <a16:creationId xmlns:a16="http://schemas.microsoft.com/office/drawing/2014/main" id="{DC46922A-C800-1CF9-E535-CF56532CDFEB}"/>
              </a:ext>
            </a:extLst>
          </p:cNvPr>
          <p:cNvGrpSpPr/>
          <p:nvPr/>
        </p:nvGrpSpPr>
        <p:grpSpPr>
          <a:xfrm>
            <a:off x="24755632" y="3357093"/>
            <a:ext cx="11178771" cy="25806820"/>
            <a:chOff x="24662027" y="3347269"/>
            <a:chExt cx="11178771" cy="25806820"/>
          </a:xfrm>
        </p:grpSpPr>
        <p:pic>
          <p:nvPicPr>
            <p:cNvPr id="49" name="Picture 48">
              <a:extLst>
                <a:ext uri="{FF2B5EF4-FFF2-40B4-BE49-F238E27FC236}">
                  <a16:creationId xmlns:a16="http://schemas.microsoft.com/office/drawing/2014/main" id="{7356BCD4-5D7F-52D0-8C3B-63A07DA2F29A}"/>
                </a:ext>
              </a:extLst>
            </p:cNvPr>
            <p:cNvPicPr>
              <a:picLocks noChangeAspect="1"/>
            </p:cNvPicPr>
            <p:nvPr/>
          </p:nvPicPr>
          <p:blipFill>
            <a:blip r:embed="rId5" cstate="print">
              <a:extLst>
                <a:ext uri="{28A0092B-C50C-407E-A947-70E740481C1C}">
                  <a14:useLocalDpi xmlns:a14="http://schemas.microsoft.com/office/drawing/2010/main" val="0"/>
                </a:ext>
              </a:extLst>
            </a:blip>
            <a:srcRect b="1801"/>
            <a:stretch>
              <a:fillRect/>
            </a:stretch>
          </p:blipFill>
          <p:spPr>
            <a:xfrm>
              <a:off x="24662042" y="7693543"/>
              <a:ext cx="11178744" cy="11627522"/>
            </a:xfrm>
            <a:prstGeom prst="rect">
              <a:avLst/>
            </a:prstGeom>
          </p:spPr>
        </p:pic>
        <p:sp>
          <p:nvSpPr>
            <p:cNvPr id="63" name="TextBox 15">
              <a:extLst>
                <a:ext uri="{FF2B5EF4-FFF2-40B4-BE49-F238E27FC236}">
                  <a16:creationId xmlns:a16="http://schemas.microsoft.com/office/drawing/2014/main" id="{7CB66E17-6BA4-4EB4-8C99-3488E4B82785}"/>
                </a:ext>
              </a:extLst>
            </p:cNvPr>
            <p:cNvSpPr txBox="1"/>
            <p:nvPr/>
          </p:nvSpPr>
          <p:spPr>
            <a:xfrm>
              <a:off x="24662029" y="20628561"/>
              <a:ext cx="11178756" cy="4124206"/>
            </a:xfrm>
            <a:prstGeom prst="rect">
              <a:avLst/>
            </a:prstGeom>
            <a:solidFill>
              <a:schemeClr val="tx2">
                <a:lumMod val="20000"/>
                <a:lumOff val="80000"/>
              </a:schemeClr>
            </a:solidFill>
          </p:spPr>
          <p:txBody>
            <a:bodyPr wrap="square" lIns="91440" tIns="91440" rIns="91440" bIns="91440" rtlCol="0" anchor="t">
              <a:spAutoFit/>
            </a:bodyPr>
            <a:lstStyle/>
            <a:p>
              <a:pPr algn="just"/>
              <a:r>
                <a:rPr lang="en-US" sz="3200" dirty="0">
                  <a:latin typeface="Palatino" pitchFamily="2" charset="77"/>
                  <a:ea typeface="Palatino" pitchFamily="2" charset="77"/>
                  <a:cs typeface="Arial" panose="020B0604020202020204" pitchFamily="34" charset="0"/>
                </a:rPr>
                <a:t>This project was made possible, in part, by a seed grant from the Penn State Office of the Vice President for Commonwealth Campuses. This work was supported in part by the U.S. Department of Energy under contract No. DE-AC05-06OR23177, under which Jefferson Science Associates, LLC operates Jefferson Lab, and by the National Science Foundation under Grants No. PHY-2310031 and No. PHY-2335114.</a:t>
              </a:r>
              <a:endParaRPr lang="en-US" dirty="0">
                <a:latin typeface="Palatino" pitchFamily="2" charset="77"/>
                <a:ea typeface="Palatino" pitchFamily="2" charset="77"/>
                <a:cs typeface="Arial" panose="020B0604020202020204" pitchFamily="34" charset="0"/>
              </a:endParaRPr>
            </a:p>
          </p:txBody>
        </p:sp>
        <p:grpSp>
          <p:nvGrpSpPr>
            <p:cNvPr id="10" name="Group 9">
              <a:extLst>
                <a:ext uri="{FF2B5EF4-FFF2-40B4-BE49-F238E27FC236}">
                  <a16:creationId xmlns:a16="http://schemas.microsoft.com/office/drawing/2014/main" id="{091CA65E-CF33-126B-2E3E-3F68A12B1CE5}"/>
                </a:ext>
              </a:extLst>
            </p:cNvPr>
            <p:cNvGrpSpPr/>
            <p:nvPr/>
          </p:nvGrpSpPr>
          <p:grpSpPr>
            <a:xfrm>
              <a:off x="24662028" y="3347269"/>
              <a:ext cx="11178770" cy="4353420"/>
              <a:chOff x="24873017" y="-2559432"/>
              <a:chExt cx="11178770" cy="4537726"/>
            </a:xfrm>
          </p:grpSpPr>
          <p:sp>
            <p:nvSpPr>
              <p:cNvPr id="15" name="TextBox 15"/>
              <p:cNvSpPr txBox="1"/>
              <p:nvPr/>
            </p:nvSpPr>
            <p:spPr>
              <a:xfrm>
                <a:off x="24873031" y="-1293933"/>
                <a:ext cx="11178756" cy="3272227"/>
              </a:xfrm>
              <a:prstGeom prst="rect">
                <a:avLst/>
              </a:prstGeom>
              <a:solidFill>
                <a:schemeClr val="tx2">
                  <a:lumMod val="20000"/>
                  <a:lumOff val="80000"/>
                </a:schemeClr>
              </a:solidFill>
            </p:spPr>
            <p:txBody>
              <a:bodyPr wrap="square" lIns="91440" tIns="91440" rIns="91440" bIns="91440" rtlCol="0" anchor="t">
                <a:spAutoFit/>
              </a:bodyPr>
              <a:lstStyle/>
              <a:p>
                <a:r>
                  <a:rPr lang="en-US" sz="3200" b="1" dirty="0">
                    <a:latin typeface="Palatino" pitchFamily="2" charset="77"/>
                    <a:ea typeface="Palatino" pitchFamily="2" charset="77"/>
                    <a:cs typeface="Arial" panose="020B0604020202020204" pitchFamily="34" charset="0"/>
                  </a:rPr>
                  <a:t>Activation functions </a:t>
                </a:r>
                <a:r>
                  <a:rPr lang="en-US" sz="3200" dirty="0">
                    <a:latin typeface="Palatino" pitchFamily="2" charset="77"/>
                    <a:ea typeface="Palatino" pitchFamily="2" charset="77"/>
                    <a:cs typeface="Arial" panose="020B0604020202020204" pitchFamily="34" charset="0"/>
                  </a:rPr>
                  <a:t>are not a minor implementation detail in physics-informed learning [2]. In our PINN example, we used a </a:t>
                </a:r>
                <a:r>
                  <a:rPr lang="en-US" sz="3200" b="1" dirty="0">
                    <a:latin typeface="Palatino" pitchFamily="2" charset="77"/>
                    <a:ea typeface="Palatino" pitchFamily="2" charset="77"/>
                    <a:cs typeface="Arial" panose="020B0604020202020204" pitchFamily="34" charset="0"/>
                  </a:rPr>
                  <a:t>cosine-annealing</a:t>
                </a:r>
                <a:r>
                  <a:rPr lang="en-US" sz="3200" dirty="0">
                    <a:latin typeface="Palatino" pitchFamily="2" charset="77"/>
                    <a:ea typeface="Palatino" pitchFamily="2" charset="77"/>
                    <a:cs typeface="Arial" panose="020B0604020202020204" pitchFamily="34" charset="0"/>
                  </a:rPr>
                  <a:t> approach, while in the NN example, we used a </a:t>
                </a:r>
                <a:r>
                  <a:rPr lang="en-US" sz="3200" b="1" dirty="0">
                    <a:latin typeface="Palatino" pitchFamily="2" charset="77"/>
                    <a:ea typeface="Palatino" pitchFamily="2" charset="77"/>
                    <a:cs typeface="Arial" panose="020B0604020202020204" pitchFamily="34" charset="0"/>
                  </a:rPr>
                  <a:t>tanh activation function</a:t>
                </a:r>
                <a:r>
                  <a:rPr lang="en-US" sz="3200" dirty="0">
                    <a:latin typeface="Palatino" pitchFamily="2" charset="77"/>
                    <a:ea typeface="Palatino" pitchFamily="2" charset="77"/>
                    <a:cs typeface="Arial" panose="020B0604020202020204" pitchFamily="34" charset="0"/>
                  </a:rPr>
                  <a:t>. As shown in the figure below, the choice of activation function can significantly affect the quality of the results.</a:t>
                </a:r>
              </a:p>
            </p:txBody>
          </p:sp>
          <p:sp>
            <p:nvSpPr>
              <p:cNvPr id="30" name="Rectangle 29">
                <a:extLst>
                  <a:ext uri="{FF2B5EF4-FFF2-40B4-BE49-F238E27FC236}">
                    <a16:creationId xmlns:a16="http://schemas.microsoft.com/office/drawing/2014/main" id="{30A7F097-1858-5969-A3F4-495C227FD5A3}"/>
                  </a:ext>
                </a:extLst>
              </p:cNvPr>
              <p:cNvSpPr/>
              <p:nvPr/>
            </p:nvSpPr>
            <p:spPr>
              <a:xfrm>
                <a:off x="24873017" y="-2559432"/>
                <a:ext cx="11178755" cy="1188379"/>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solidFill>
                      <a:schemeClr val="bg1"/>
                    </a:solidFill>
                    <a:latin typeface="Palatino" pitchFamily="2" charset="77"/>
                    <a:ea typeface="Palatino" pitchFamily="2" charset="77"/>
                    <a:cs typeface="Helvetica" panose="020B0604020202020204" pitchFamily="34" charset="0"/>
                    <a:sym typeface="Inter Extra-Light"/>
                  </a:rPr>
                  <a:t>Activation Functions</a:t>
                </a:r>
              </a:p>
            </p:txBody>
          </p:sp>
        </p:grpSp>
        <p:sp>
          <p:nvSpPr>
            <p:cNvPr id="33" name="Rectangle 32">
              <a:extLst>
                <a:ext uri="{FF2B5EF4-FFF2-40B4-BE49-F238E27FC236}">
                  <a16:creationId xmlns:a16="http://schemas.microsoft.com/office/drawing/2014/main" id="{342CD42D-C30C-D22B-A6DE-11E755401968}"/>
                </a:ext>
              </a:extLst>
            </p:cNvPr>
            <p:cNvSpPr/>
            <p:nvPr/>
          </p:nvSpPr>
          <p:spPr>
            <a:xfrm>
              <a:off x="24662027" y="24817566"/>
              <a:ext cx="11178755" cy="1140112"/>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solidFill>
                    <a:schemeClr val="bg1"/>
                  </a:solidFill>
                  <a:latin typeface="Palatino" pitchFamily="2" charset="77"/>
                  <a:ea typeface="Palatino" pitchFamily="2" charset="77"/>
                  <a:cs typeface="Helvetica" panose="020B0604020202020204" pitchFamily="34" charset="0"/>
                  <a:sym typeface="Inter Extra-Light"/>
                </a:rPr>
                <a:t>References</a:t>
              </a:r>
            </a:p>
          </p:txBody>
        </p:sp>
        <p:sp>
          <p:nvSpPr>
            <p:cNvPr id="34" name="Rectangle 33">
              <a:extLst>
                <a:ext uri="{FF2B5EF4-FFF2-40B4-BE49-F238E27FC236}">
                  <a16:creationId xmlns:a16="http://schemas.microsoft.com/office/drawing/2014/main" id="{FB58DDC6-27CA-764A-5A0D-762BD9080A65}"/>
                </a:ext>
              </a:extLst>
            </p:cNvPr>
            <p:cNvSpPr/>
            <p:nvPr/>
          </p:nvSpPr>
          <p:spPr>
            <a:xfrm>
              <a:off x="24662029" y="19415389"/>
              <a:ext cx="11178755" cy="1140112"/>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solidFill>
                    <a:schemeClr val="bg1"/>
                  </a:solidFill>
                  <a:latin typeface="Palatino" pitchFamily="2" charset="77"/>
                  <a:ea typeface="Palatino" pitchFamily="2" charset="77"/>
                  <a:cs typeface="Helvetica" panose="020B0604020202020204" pitchFamily="34" charset="0"/>
                  <a:sym typeface="Inter Extra-Light"/>
                </a:rPr>
                <a:t>Acknowledgments</a:t>
              </a:r>
            </a:p>
          </p:txBody>
        </p:sp>
        <p:sp>
          <p:nvSpPr>
            <p:cNvPr id="36" name="TextBox 15">
              <a:extLst>
                <a:ext uri="{FF2B5EF4-FFF2-40B4-BE49-F238E27FC236}">
                  <a16:creationId xmlns:a16="http://schemas.microsoft.com/office/drawing/2014/main" id="{689C22C1-A282-8242-E14C-8C26F77F80D7}"/>
                </a:ext>
              </a:extLst>
            </p:cNvPr>
            <p:cNvSpPr txBox="1"/>
            <p:nvPr/>
          </p:nvSpPr>
          <p:spPr>
            <a:xfrm>
              <a:off x="24662028" y="26014768"/>
              <a:ext cx="11178744" cy="3139321"/>
            </a:xfrm>
            <a:prstGeom prst="rect">
              <a:avLst/>
            </a:prstGeom>
            <a:solidFill>
              <a:schemeClr val="tx2">
                <a:lumMod val="20000"/>
                <a:lumOff val="80000"/>
              </a:schemeClr>
            </a:solidFill>
          </p:spPr>
          <p:txBody>
            <a:bodyPr wrap="square" lIns="91440" tIns="91440" rIns="91440" bIns="91440" rtlCol="0" anchor="t">
              <a:spAutoFit/>
            </a:bodyPr>
            <a:lstStyle/>
            <a:p>
              <a:pPr>
                <a:spcBef>
                  <a:spcPct val="0"/>
                </a:spcBef>
              </a:pPr>
              <a:r>
                <a:rPr lang="en-US" sz="3200" dirty="0">
                  <a:latin typeface="Palatino" pitchFamily="2" charset="77"/>
                  <a:ea typeface="Palatino" pitchFamily="2" charset="77"/>
                </a:rPr>
                <a:t>[1] M. </a:t>
              </a:r>
              <a:r>
                <a:rPr lang="en-US" sz="3200" dirty="0" err="1">
                  <a:latin typeface="Palatino" pitchFamily="2" charset="77"/>
                  <a:ea typeface="Palatino" pitchFamily="2" charset="77"/>
                </a:rPr>
                <a:t>Raissi</a:t>
              </a:r>
              <a:r>
                <a:rPr lang="en-US" sz="3200" dirty="0">
                  <a:latin typeface="Palatino" pitchFamily="2" charset="77"/>
                  <a:ea typeface="Palatino" pitchFamily="2" charset="77"/>
                </a:rPr>
                <a:t>, P. </a:t>
              </a:r>
              <a:r>
                <a:rPr lang="en-US" sz="3200" dirty="0" err="1">
                  <a:latin typeface="Palatino" pitchFamily="2" charset="77"/>
                  <a:ea typeface="Palatino" pitchFamily="2" charset="77"/>
                </a:rPr>
                <a:t>Perdikaris</a:t>
              </a:r>
              <a:r>
                <a:rPr lang="en-US" sz="3200" dirty="0">
                  <a:latin typeface="Palatino" pitchFamily="2" charset="77"/>
                  <a:ea typeface="Palatino" pitchFamily="2" charset="77"/>
                </a:rPr>
                <a:t>,  and G.E. </a:t>
              </a:r>
              <a:r>
                <a:rPr lang="en-US" sz="3200" dirty="0" err="1">
                  <a:latin typeface="Palatino" pitchFamily="2" charset="77"/>
                  <a:ea typeface="Palatino" pitchFamily="2" charset="77"/>
                </a:rPr>
                <a:t>Karniadakis</a:t>
              </a:r>
              <a:r>
                <a:rPr lang="en-US" sz="3200" dirty="0">
                  <a:latin typeface="Palatino" pitchFamily="2" charset="77"/>
                  <a:ea typeface="Palatino" pitchFamily="2" charset="77"/>
                </a:rPr>
                <a:t>, ‘’Physics-Informed Neural Networks’’ Journal of Computational Physics, 378, 686-707 (2019) </a:t>
              </a:r>
            </a:p>
            <a:p>
              <a:pPr>
                <a:spcBef>
                  <a:spcPct val="0"/>
                </a:spcBef>
              </a:pPr>
              <a:r>
                <a:rPr lang="en-US" sz="3200" dirty="0">
                  <a:latin typeface="Palatino" pitchFamily="2" charset="77"/>
                  <a:ea typeface="Palatino" pitchFamily="2" charset="77"/>
                </a:rPr>
                <a:t>[2] H. Wang, L. Lu, S. Song, and G. Huang, ‘’Learning Specialized Activation Functions for Physics-Informed Neural Networks’’ Commun. </a:t>
              </a:r>
              <a:r>
                <a:rPr lang="en-US" sz="3200" dirty="0" err="1">
                  <a:latin typeface="Palatino" pitchFamily="2" charset="77"/>
                  <a:ea typeface="Palatino" pitchFamily="2" charset="77"/>
                </a:rPr>
                <a:t>Comput</a:t>
              </a:r>
              <a:r>
                <a:rPr lang="en-US" sz="3200" dirty="0">
                  <a:latin typeface="Palatino" pitchFamily="2" charset="77"/>
                  <a:ea typeface="Palatino" pitchFamily="2" charset="77"/>
                </a:rPr>
                <a:t>. Phys. 869-906 (2023)</a:t>
              </a:r>
              <a:endParaRPr lang="en-US" sz="3200" dirty="0">
                <a:latin typeface="Palatino" pitchFamily="2" charset="77"/>
                <a:ea typeface="Palatino" pitchFamily="2" charset="77"/>
                <a:cs typeface="Arial" panose="020B0604020202020204" pitchFamily="34" charset="0"/>
                <a:sym typeface="Inter Extra-Light"/>
              </a:endParaRPr>
            </a:p>
          </p:txBody>
        </p:sp>
      </p:grpSp>
      <p:grpSp>
        <p:nvGrpSpPr>
          <p:cNvPr id="19" name="Group 18">
            <a:extLst>
              <a:ext uri="{FF2B5EF4-FFF2-40B4-BE49-F238E27FC236}">
                <a16:creationId xmlns:a16="http://schemas.microsoft.com/office/drawing/2014/main" id="{CE79EA96-8FA5-A36C-36E7-8F5BFAB4A0E4}"/>
              </a:ext>
            </a:extLst>
          </p:cNvPr>
          <p:cNvGrpSpPr/>
          <p:nvPr/>
        </p:nvGrpSpPr>
        <p:grpSpPr>
          <a:xfrm>
            <a:off x="641584" y="3348839"/>
            <a:ext cx="11178768" cy="25704021"/>
            <a:chOff x="641595" y="3348839"/>
            <a:chExt cx="11178768" cy="25704021"/>
          </a:xfrm>
        </p:grpSpPr>
        <p:sp>
          <p:nvSpPr>
            <p:cNvPr id="12" name="TextBox 12"/>
            <p:cNvSpPr txBox="1"/>
            <p:nvPr/>
          </p:nvSpPr>
          <p:spPr>
            <a:xfrm>
              <a:off x="641606" y="4553795"/>
              <a:ext cx="11178745" cy="6586418"/>
            </a:xfrm>
            <a:prstGeom prst="rect">
              <a:avLst/>
            </a:prstGeom>
            <a:solidFill>
              <a:schemeClr val="tx2">
                <a:lumMod val="20000"/>
                <a:lumOff val="80000"/>
              </a:schemeClr>
            </a:solidFill>
          </p:spPr>
          <p:txBody>
            <a:bodyPr wrap="square" lIns="91440" tIns="91440" rIns="91440" bIns="91440" rtlCol="0" anchor="t">
              <a:spAutoFit/>
            </a:bodyPr>
            <a:lstStyle/>
            <a:p>
              <a:pPr algn="just">
                <a:spcBef>
                  <a:spcPct val="0"/>
                </a:spcBef>
              </a:pPr>
              <a:r>
                <a:rPr lang="en-US" sz="3200" dirty="0">
                  <a:latin typeface="Palatino" pitchFamily="2" charset="77"/>
                  <a:ea typeface="Palatino" pitchFamily="2" charset="77"/>
                  <a:cs typeface="Arial" panose="020B0604020202020204" pitchFamily="34" charset="0"/>
                </a:rPr>
                <a:t>A </a:t>
              </a:r>
              <a:r>
                <a:rPr lang="en-US" sz="3200" b="1" dirty="0">
                  <a:latin typeface="Palatino" pitchFamily="2" charset="77"/>
                  <a:ea typeface="Palatino" pitchFamily="2" charset="77"/>
                  <a:cs typeface="Arial" panose="020B0604020202020204" pitchFamily="34" charset="0"/>
                </a:rPr>
                <a:t>neural network </a:t>
              </a:r>
              <a:r>
                <a:rPr lang="en-US" sz="3200" dirty="0">
                  <a:latin typeface="Palatino" pitchFamily="2" charset="77"/>
                  <a:ea typeface="Palatino" pitchFamily="2" charset="77"/>
                  <a:cs typeface="Arial" panose="020B0604020202020204" pitchFamily="34" charset="0"/>
                </a:rPr>
                <a:t>is a machine learning model that learns patterns from data by adjusting internal parameters called weights and biases. During training, the model receives input values, produces an output, compares it to the true value, and updates its parameters to reduce error, defined as </a:t>
              </a:r>
              <a:r>
                <a:rPr lang="en-US" sz="3200" b="1" dirty="0">
                  <a:latin typeface="Palatino" pitchFamily="2" charset="77"/>
                  <a:ea typeface="Palatino" pitchFamily="2" charset="77"/>
                  <a:cs typeface="Arial" panose="020B0604020202020204" pitchFamily="34" charset="0"/>
                </a:rPr>
                <a:t>data loss</a:t>
              </a:r>
              <a:r>
                <a:rPr lang="en-US" sz="3200" dirty="0">
                  <a:latin typeface="Palatino" pitchFamily="2" charset="77"/>
                  <a:ea typeface="Palatino" pitchFamily="2" charset="77"/>
                  <a:cs typeface="Arial" panose="020B0604020202020204" pitchFamily="34" charset="0"/>
                </a:rPr>
                <a:t>. The </a:t>
              </a:r>
              <a:r>
                <a:rPr lang="en-US" sz="3200" b="1" dirty="0">
                  <a:latin typeface="Palatino" pitchFamily="2" charset="77"/>
                  <a:ea typeface="Palatino" pitchFamily="2" charset="77"/>
                  <a:cs typeface="Arial" panose="020B0604020202020204" pitchFamily="34" charset="0"/>
                </a:rPr>
                <a:t>training domain</a:t>
              </a:r>
              <a:r>
                <a:rPr lang="en-US" sz="3200" dirty="0">
                  <a:latin typeface="Palatino" pitchFamily="2" charset="77"/>
                  <a:ea typeface="Palatino" pitchFamily="2" charset="77"/>
                  <a:cs typeface="Arial" panose="020B0604020202020204" pitchFamily="34" charset="0"/>
                </a:rPr>
                <a:t> is the range of input values on which the model is trained. In this study, the network is trained only on a limited interval, so an important question is whether it can also behave correctly outside that region. An </a:t>
              </a:r>
              <a:r>
                <a:rPr lang="en-US" sz="3200" b="1" dirty="0">
                  <a:latin typeface="Palatino" pitchFamily="2" charset="77"/>
                  <a:ea typeface="Palatino" pitchFamily="2" charset="77"/>
                  <a:cs typeface="Arial" panose="020B0604020202020204" pitchFamily="34" charset="0"/>
                </a:rPr>
                <a:t>activation function</a:t>
              </a:r>
              <a:r>
                <a:rPr lang="en-US" sz="3200" dirty="0">
                  <a:latin typeface="Palatino" pitchFamily="2" charset="77"/>
                  <a:ea typeface="Palatino" pitchFamily="2" charset="77"/>
                  <a:cs typeface="Arial" panose="020B0604020202020204" pitchFamily="34" charset="0"/>
                </a:rPr>
                <a:t> is the mathematical function applied inside each neuron that allows the network to represent complex patterns. Its choice strongly affects how well the model captures the structure of a problem. </a:t>
              </a:r>
              <a:endParaRPr lang="en-US" sz="3200" dirty="0">
                <a:solidFill>
                  <a:srgbClr val="000000"/>
                </a:solidFill>
                <a:latin typeface="Palatino" pitchFamily="2" charset="77"/>
                <a:ea typeface="Palatino" pitchFamily="2" charset="77"/>
                <a:cs typeface="Arial" panose="020B0604020202020204" pitchFamily="34" charset="0"/>
                <a:sym typeface="Inter Extra-Light"/>
              </a:endParaRPr>
            </a:p>
          </p:txBody>
        </p:sp>
        <p:sp>
          <p:nvSpPr>
            <p:cNvPr id="31" name="Rectangle 30">
              <a:extLst>
                <a:ext uri="{FF2B5EF4-FFF2-40B4-BE49-F238E27FC236}">
                  <a16:creationId xmlns:a16="http://schemas.microsoft.com/office/drawing/2014/main" id="{9B4AA57C-6A8D-6AF2-73A7-986D8065123E}"/>
                </a:ext>
              </a:extLst>
            </p:cNvPr>
            <p:cNvSpPr/>
            <p:nvPr/>
          </p:nvSpPr>
          <p:spPr>
            <a:xfrm>
              <a:off x="641595" y="23701699"/>
              <a:ext cx="11178755" cy="1140112"/>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solidFill>
                    <a:schemeClr val="bg1"/>
                  </a:solidFill>
                  <a:latin typeface="Palatino" pitchFamily="2" charset="77"/>
                  <a:ea typeface="Palatino" pitchFamily="2" charset="77"/>
                  <a:cs typeface="Helvetica" panose="020B0604020202020204" pitchFamily="34" charset="0"/>
                  <a:sym typeface="Inter Extra-Light"/>
                </a:rPr>
                <a:t>Takeaways</a:t>
              </a:r>
            </a:p>
          </p:txBody>
        </p:sp>
        <p:sp>
          <p:nvSpPr>
            <p:cNvPr id="32" name="Rectangle 31">
              <a:extLst>
                <a:ext uri="{FF2B5EF4-FFF2-40B4-BE49-F238E27FC236}">
                  <a16:creationId xmlns:a16="http://schemas.microsoft.com/office/drawing/2014/main" id="{E8ED9DE4-206D-90F9-1FE2-5D870BB7DD10}"/>
                </a:ext>
              </a:extLst>
            </p:cNvPr>
            <p:cNvSpPr/>
            <p:nvPr/>
          </p:nvSpPr>
          <p:spPr>
            <a:xfrm>
              <a:off x="641608" y="3348839"/>
              <a:ext cx="11178755" cy="1140112"/>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solidFill>
                    <a:schemeClr val="bg1"/>
                  </a:solidFill>
                  <a:latin typeface="Palatino" pitchFamily="2" charset="77"/>
                  <a:ea typeface="Palatino" pitchFamily="2" charset="77"/>
                  <a:cs typeface="Helvetica" panose="020B0604020202020204" pitchFamily="34" charset="0"/>
                  <a:sym typeface="Inter Extra-Light"/>
                </a:rPr>
                <a:t>Background</a:t>
              </a:r>
            </a:p>
          </p:txBody>
        </p:sp>
        <p:sp>
          <p:nvSpPr>
            <p:cNvPr id="35" name="TextBox 15">
              <a:extLst>
                <a:ext uri="{FF2B5EF4-FFF2-40B4-BE49-F238E27FC236}">
                  <a16:creationId xmlns:a16="http://schemas.microsoft.com/office/drawing/2014/main" id="{0242DBFA-2F99-630A-32F9-0D5478B84F92}"/>
                </a:ext>
              </a:extLst>
            </p:cNvPr>
            <p:cNvSpPr txBox="1"/>
            <p:nvPr/>
          </p:nvSpPr>
          <p:spPr>
            <a:xfrm>
              <a:off x="641595" y="24928654"/>
              <a:ext cx="11178756" cy="4124206"/>
            </a:xfrm>
            <a:prstGeom prst="rect">
              <a:avLst/>
            </a:prstGeom>
            <a:solidFill>
              <a:schemeClr val="tx2">
                <a:lumMod val="20000"/>
                <a:lumOff val="80000"/>
              </a:schemeClr>
            </a:solidFill>
          </p:spPr>
          <p:txBody>
            <a:bodyPr wrap="square" lIns="91440" tIns="91440" rIns="91440" bIns="91440" rtlCol="0" anchor="t">
              <a:spAutoFit/>
            </a:bodyPr>
            <a:lstStyle/>
            <a:p>
              <a:pPr algn="just">
                <a:spcBef>
                  <a:spcPct val="0"/>
                </a:spcBef>
              </a:pPr>
              <a:r>
                <a:rPr lang="en-US" sz="3200" dirty="0">
                  <a:latin typeface="Palatino" pitchFamily="2" charset="77"/>
                  <a:ea typeface="Palatino" pitchFamily="2" charset="77"/>
                  <a:cs typeface="Arial" panose="020B0604020202020204" pitchFamily="34" charset="0"/>
                </a:rPr>
                <a:t>Standard neural networks can model data accurately within the training domain but often fail to preserve the correct behavior outside it. By incorporating the governing differential equation and periodicity constraints, the PINN produced a more accurate and physically consistent solution. This study also shows that activation functions are not merely implementation details, as their choice can significantly affect model performance.</a:t>
              </a:r>
              <a:endParaRPr lang="en-US" sz="3200" dirty="0">
                <a:latin typeface="Palatino" pitchFamily="2" charset="77"/>
                <a:ea typeface="Palatino" pitchFamily="2" charset="77"/>
                <a:cs typeface="Arial" panose="020B0604020202020204" pitchFamily="34" charset="0"/>
                <a:sym typeface="Inter Extra-Light"/>
              </a:endParaRPr>
            </a:p>
          </p:txBody>
        </p:sp>
        <p:pic>
          <p:nvPicPr>
            <p:cNvPr id="43" name="Picture 42">
              <a:extLst>
                <a:ext uri="{FF2B5EF4-FFF2-40B4-BE49-F238E27FC236}">
                  <a16:creationId xmlns:a16="http://schemas.microsoft.com/office/drawing/2014/main" id="{95AE1D29-B66C-48B4-FBE4-73A7FCFD350F}"/>
                </a:ext>
              </a:extLst>
            </p:cNvPr>
            <p:cNvPicPr>
              <a:picLocks noChangeAspect="1"/>
            </p:cNvPicPr>
            <p:nvPr/>
          </p:nvPicPr>
          <p:blipFill>
            <a:blip r:embed="rId6" cstate="print">
              <a:extLst>
                <a:ext uri="{28A0092B-C50C-407E-A947-70E740481C1C}">
                  <a14:useLocalDpi xmlns:a14="http://schemas.microsoft.com/office/drawing/2010/main" val="0"/>
                </a:ext>
              </a:extLst>
            </a:blip>
            <a:srcRect r="9961"/>
            <a:stretch>
              <a:fillRect/>
            </a:stretch>
          </p:blipFill>
          <p:spPr>
            <a:xfrm>
              <a:off x="641606" y="12440554"/>
              <a:ext cx="11178745" cy="9932394"/>
            </a:xfrm>
            <a:prstGeom prst="rect">
              <a:avLst/>
            </a:prstGeom>
          </p:spPr>
        </p:pic>
      </p:grpSp>
      <p:grpSp>
        <p:nvGrpSpPr>
          <p:cNvPr id="8" name="Group 7">
            <a:extLst>
              <a:ext uri="{FF2B5EF4-FFF2-40B4-BE49-F238E27FC236}">
                <a16:creationId xmlns:a16="http://schemas.microsoft.com/office/drawing/2014/main" id="{0EC12426-ABA4-A145-C327-E671E6162DEE}"/>
              </a:ext>
            </a:extLst>
          </p:cNvPr>
          <p:cNvGrpSpPr/>
          <p:nvPr/>
        </p:nvGrpSpPr>
        <p:grpSpPr>
          <a:xfrm>
            <a:off x="12718195" y="3348839"/>
            <a:ext cx="11182896" cy="25711522"/>
            <a:chOff x="12668546" y="3357057"/>
            <a:chExt cx="11182896" cy="25711522"/>
          </a:xfrm>
        </p:grpSpPr>
        <p:grpSp>
          <p:nvGrpSpPr>
            <p:cNvPr id="11" name="Group 10">
              <a:extLst>
                <a:ext uri="{FF2B5EF4-FFF2-40B4-BE49-F238E27FC236}">
                  <a16:creationId xmlns:a16="http://schemas.microsoft.com/office/drawing/2014/main" id="{8A192193-CC96-9FFC-9943-925FDC13EBB7}"/>
                </a:ext>
              </a:extLst>
            </p:cNvPr>
            <p:cNvGrpSpPr/>
            <p:nvPr/>
          </p:nvGrpSpPr>
          <p:grpSpPr>
            <a:xfrm>
              <a:off x="12668546" y="23730193"/>
              <a:ext cx="11178768" cy="5338386"/>
              <a:chOff x="24826233" y="3338715"/>
              <a:chExt cx="11178768" cy="5338386"/>
            </a:xfrm>
          </p:grpSpPr>
          <p:sp>
            <p:nvSpPr>
              <p:cNvPr id="14" name="TextBox 15">
                <a:extLst>
                  <a:ext uri="{FF2B5EF4-FFF2-40B4-BE49-F238E27FC236}">
                    <a16:creationId xmlns:a16="http://schemas.microsoft.com/office/drawing/2014/main" id="{54B60D6D-BEE1-8DB9-054D-9093963336EE}"/>
                  </a:ext>
                </a:extLst>
              </p:cNvPr>
              <p:cNvSpPr txBox="1"/>
              <p:nvPr/>
            </p:nvSpPr>
            <p:spPr>
              <a:xfrm>
                <a:off x="24826245" y="4552895"/>
                <a:ext cx="11178756" cy="4124206"/>
              </a:xfrm>
              <a:prstGeom prst="rect">
                <a:avLst/>
              </a:prstGeom>
              <a:solidFill>
                <a:schemeClr val="tx2">
                  <a:lumMod val="20000"/>
                  <a:lumOff val="80000"/>
                </a:schemeClr>
              </a:solidFill>
            </p:spPr>
            <p:txBody>
              <a:bodyPr wrap="square" lIns="91440" tIns="91440" rIns="91440" bIns="91440" rtlCol="0" anchor="t">
                <a:spAutoFit/>
              </a:bodyPr>
              <a:lstStyle/>
              <a:p>
                <a:pPr algn="just"/>
                <a:r>
                  <a:rPr lang="en-US" sz="3200" dirty="0">
                    <a:latin typeface="Palatino" pitchFamily="2" charset="77"/>
                    <a:ea typeface="Palatino" pitchFamily="2" charset="77"/>
                    <a:cs typeface="Arial" panose="020B0604020202020204" pitchFamily="34" charset="0"/>
                  </a:rPr>
                  <a:t>To improve the model, we constructed a </a:t>
                </a:r>
                <a:r>
                  <a:rPr lang="en-US" sz="3200" b="1" dirty="0">
                    <a:latin typeface="Palatino" pitchFamily="2" charset="77"/>
                    <a:ea typeface="Palatino" pitchFamily="2" charset="77"/>
                    <a:cs typeface="Arial" panose="020B0604020202020204" pitchFamily="34" charset="0"/>
                  </a:rPr>
                  <a:t>physics-informed neural network</a:t>
                </a:r>
                <a:r>
                  <a:rPr lang="en-US" sz="3200" dirty="0">
                    <a:latin typeface="Palatino" pitchFamily="2" charset="77"/>
                    <a:ea typeface="Palatino" pitchFamily="2" charset="77"/>
                    <a:cs typeface="Arial" panose="020B0604020202020204" pitchFamily="34" charset="0"/>
                  </a:rPr>
                  <a:t> (PINN) [1] by adding a physics-based loss term that penalizes violations of the differential equation directly at the loss function. We also included a </a:t>
                </a:r>
                <a:r>
                  <a:rPr lang="en-US" sz="3200" b="1" dirty="0">
                    <a:latin typeface="Palatino" pitchFamily="2" charset="77"/>
                    <a:ea typeface="Palatino" pitchFamily="2" charset="77"/>
                    <a:cs typeface="Arial" panose="020B0604020202020204" pitchFamily="34" charset="0"/>
                  </a:rPr>
                  <a:t>periodicity loss term </a:t>
                </a:r>
                <a:r>
                  <a:rPr lang="en-US" sz="3200" dirty="0">
                    <a:latin typeface="Palatino" pitchFamily="2" charset="77"/>
                    <a:ea typeface="Palatino" pitchFamily="2" charset="77"/>
                    <a:cs typeface="Arial" panose="020B0604020202020204" pitchFamily="34" charset="0"/>
                  </a:rPr>
                  <a:t>to encourage the solution to repeat the expected sinusoidal pattern. These additions made the PINN more accurate and more physically consistent than the standard neural network.</a:t>
                </a:r>
              </a:p>
            </p:txBody>
          </p:sp>
          <p:sp>
            <p:nvSpPr>
              <p:cNvPr id="17" name="Rectangle 16">
                <a:extLst>
                  <a:ext uri="{FF2B5EF4-FFF2-40B4-BE49-F238E27FC236}">
                    <a16:creationId xmlns:a16="http://schemas.microsoft.com/office/drawing/2014/main" id="{20CCB33A-6504-1077-FBB0-79BBB6AE0AA6}"/>
                  </a:ext>
                </a:extLst>
              </p:cNvPr>
              <p:cNvSpPr/>
              <p:nvPr/>
            </p:nvSpPr>
            <p:spPr>
              <a:xfrm>
                <a:off x="24826233" y="3338715"/>
                <a:ext cx="11178755" cy="1140112"/>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solidFill>
                      <a:schemeClr val="bg1"/>
                    </a:solidFill>
                    <a:latin typeface="Palatino" pitchFamily="2" charset="77"/>
                    <a:ea typeface="Palatino" pitchFamily="2" charset="77"/>
                    <a:cs typeface="Helvetica" panose="020B0604020202020204" pitchFamily="34" charset="0"/>
                    <a:sym typeface="Inter Extra-Light"/>
                  </a:rPr>
                  <a:t>Physics-Informed Neural Network</a:t>
                </a:r>
              </a:p>
            </p:txBody>
          </p:sp>
        </p:grpSp>
        <p:grpSp>
          <p:nvGrpSpPr>
            <p:cNvPr id="7" name="Group 6">
              <a:extLst>
                <a:ext uri="{FF2B5EF4-FFF2-40B4-BE49-F238E27FC236}">
                  <a16:creationId xmlns:a16="http://schemas.microsoft.com/office/drawing/2014/main" id="{EC2B0C57-4789-BF08-F4E3-FBB8EE7944BA}"/>
                </a:ext>
              </a:extLst>
            </p:cNvPr>
            <p:cNvGrpSpPr/>
            <p:nvPr/>
          </p:nvGrpSpPr>
          <p:grpSpPr>
            <a:xfrm>
              <a:off x="12668546" y="3357057"/>
              <a:ext cx="11182896" cy="20235311"/>
              <a:chOff x="12668546" y="3357057"/>
              <a:chExt cx="11182896" cy="20235311"/>
            </a:xfrm>
          </p:grpSpPr>
          <p:pic>
            <p:nvPicPr>
              <p:cNvPr id="45" name="Picture 44">
                <a:extLst>
                  <a:ext uri="{FF2B5EF4-FFF2-40B4-BE49-F238E27FC236}">
                    <a16:creationId xmlns:a16="http://schemas.microsoft.com/office/drawing/2014/main" id="{25531E1E-B226-0D17-B3BA-861860FFB8C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2672686" y="16278938"/>
                <a:ext cx="11178756" cy="7313430"/>
              </a:xfrm>
              <a:prstGeom prst="rect">
                <a:avLst/>
              </a:prstGeom>
            </p:spPr>
          </p:pic>
          <mc:AlternateContent xmlns:mc="http://schemas.openxmlformats.org/markup-compatibility/2006" xmlns:a14="http://schemas.microsoft.com/office/drawing/2010/main">
            <mc:Choice Requires="a14">
              <p:sp>
                <p:nvSpPr>
                  <p:cNvPr id="13" name="TextBox 13"/>
                  <p:cNvSpPr txBox="1"/>
                  <p:nvPr/>
                </p:nvSpPr>
                <p:spPr>
                  <a:xfrm>
                    <a:off x="12668556" y="4563019"/>
                    <a:ext cx="11178745" cy="4399859"/>
                  </a:xfrm>
                  <a:prstGeom prst="rect">
                    <a:avLst/>
                  </a:prstGeom>
                  <a:solidFill>
                    <a:schemeClr val="tx2">
                      <a:lumMod val="20000"/>
                      <a:lumOff val="80000"/>
                    </a:schemeClr>
                  </a:solidFill>
                </p:spPr>
                <p:txBody>
                  <a:bodyPr wrap="square" lIns="91440" tIns="91440" rIns="91440" bIns="91440" rtlCol="0" anchor="t">
                    <a:spAutoFit/>
                  </a:bodyPr>
                  <a:lstStyle/>
                  <a:p>
                    <a:pPr algn="just"/>
                    <a:r>
                      <a:rPr lang="en-US" sz="3200" dirty="0">
                        <a:latin typeface="Palatino" pitchFamily="2" charset="77"/>
                        <a:ea typeface="Palatino" pitchFamily="2" charset="77"/>
                        <a:cs typeface="Arial" panose="020B0604020202020204" pitchFamily="34" charset="0"/>
                      </a:rPr>
                      <a:t>In this study our goal was to model solutions of the differential equation:  </a:t>
                    </a:r>
                    <a14:m>
                      <m:oMath xmlns:m="http://schemas.openxmlformats.org/officeDocument/2006/math">
                        <m:f>
                          <m:fPr>
                            <m:ctrlPr>
                              <a:rPr lang="en-US" sz="3200" i="1" smtClean="0">
                                <a:latin typeface="Cambria Math" panose="02040503050406030204" pitchFamily="18" charset="0"/>
                                <a:cs typeface="Arial" panose="020B0604020202020204" pitchFamily="34" charset="0"/>
                              </a:rPr>
                            </m:ctrlPr>
                          </m:fPr>
                          <m:num>
                            <m:sSup>
                              <m:sSupPr>
                                <m:ctrlPr>
                                  <a:rPr lang="en-US" sz="3200" b="0" i="1" smtClean="0">
                                    <a:latin typeface="Cambria Math" panose="02040503050406030204" pitchFamily="18" charset="0"/>
                                    <a:cs typeface="Arial" panose="020B0604020202020204" pitchFamily="34" charset="0"/>
                                  </a:rPr>
                                </m:ctrlPr>
                              </m:sSupPr>
                              <m:e>
                                <m:r>
                                  <a:rPr lang="en-US" sz="3200" b="0" i="1" smtClean="0">
                                    <a:latin typeface="Cambria Math" panose="02040503050406030204" pitchFamily="18" charset="0"/>
                                    <a:cs typeface="Arial" panose="020B0604020202020204" pitchFamily="34" charset="0"/>
                                  </a:rPr>
                                  <m:t>𝑑</m:t>
                                </m:r>
                              </m:e>
                              <m:sup>
                                <m:r>
                                  <a:rPr lang="en-US" sz="3200" b="0" i="1" smtClean="0">
                                    <a:latin typeface="Cambria Math" panose="02040503050406030204" pitchFamily="18" charset="0"/>
                                    <a:cs typeface="Arial" panose="020B0604020202020204" pitchFamily="34" charset="0"/>
                                  </a:rPr>
                                  <m:t>2</m:t>
                                </m:r>
                              </m:sup>
                            </m:sSup>
                            <m:r>
                              <a:rPr lang="en-US" sz="3200" b="0" i="1" smtClean="0">
                                <a:latin typeface="Cambria Math" panose="02040503050406030204" pitchFamily="18" charset="0"/>
                                <a:cs typeface="Arial" panose="020B0604020202020204" pitchFamily="34" charset="0"/>
                              </a:rPr>
                              <m:t>𝑓</m:t>
                            </m:r>
                          </m:num>
                          <m:den>
                            <m:r>
                              <a:rPr lang="en-US" sz="3200" b="0" i="1" smtClean="0">
                                <a:latin typeface="Cambria Math" panose="02040503050406030204" pitchFamily="18" charset="0"/>
                                <a:cs typeface="Arial" panose="020B0604020202020204" pitchFamily="34" charset="0"/>
                              </a:rPr>
                              <m:t>𝑑</m:t>
                            </m:r>
                            <m:sSup>
                              <m:sSupPr>
                                <m:ctrlPr>
                                  <a:rPr lang="en-US" sz="3200" b="0" i="1" smtClean="0">
                                    <a:latin typeface="Cambria Math" panose="02040503050406030204" pitchFamily="18" charset="0"/>
                                    <a:cs typeface="Arial" panose="020B0604020202020204" pitchFamily="34" charset="0"/>
                                  </a:rPr>
                                </m:ctrlPr>
                              </m:sSupPr>
                              <m:e>
                                <m:r>
                                  <a:rPr lang="en-US" sz="3200" b="0" i="1" smtClean="0">
                                    <a:latin typeface="Cambria Math" panose="02040503050406030204" pitchFamily="18" charset="0"/>
                                    <a:cs typeface="Arial" panose="020B0604020202020204" pitchFamily="34" charset="0"/>
                                  </a:rPr>
                                  <m:t>𝑥</m:t>
                                </m:r>
                              </m:e>
                              <m:sup>
                                <m:r>
                                  <a:rPr lang="en-US" sz="3200" b="0" i="1" smtClean="0">
                                    <a:latin typeface="Cambria Math" panose="02040503050406030204" pitchFamily="18" charset="0"/>
                                    <a:cs typeface="Arial" panose="020B0604020202020204" pitchFamily="34" charset="0"/>
                                  </a:rPr>
                                  <m:t>2</m:t>
                                </m:r>
                              </m:sup>
                            </m:sSup>
                          </m:den>
                        </m:f>
                        <m:r>
                          <a:rPr lang="en-US" sz="3200" b="0" i="1" smtClean="0">
                            <a:latin typeface="Cambria Math" panose="02040503050406030204" pitchFamily="18" charset="0"/>
                            <a:cs typeface="Arial" panose="020B0604020202020204" pitchFamily="34" charset="0"/>
                          </a:rPr>
                          <m:t>=−</m:t>
                        </m:r>
                        <m:r>
                          <a:rPr lang="en-US" sz="3200" b="0" i="1" smtClean="0">
                            <a:latin typeface="Cambria Math" panose="02040503050406030204" pitchFamily="18" charset="0"/>
                            <a:cs typeface="Arial" panose="020B0604020202020204" pitchFamily="34" charset="0"/>
                          </a:rPr>
                          <m:t>𝑓</m:t>
                        </m:r>
                        <m:r>
                          <a:rPr lang="en-US" sz="3200" b="0" i="0" smtClean="0">
                            <a:latin typeface="Cambria Math" panose="02040503050406030204" pitchFamily="18" charset="0"/>
                            <a:cs typeface="Arial" panose="020B0604020202020204" pitchFamily="34" charset="0"/>
                          </a:rPr>
                          <m:t> </m:t>
                        </m:r>
                      </m:oMath>
                    </a14:m>
                    <a:r>
                      <a:rPr lang="en-US" sz="3200" dirty="0">
                        <a:latin typeface="Palatino" pitchFamily="2" charset="77"/>
                        <a:ea typeface="Palatino" pitchFamily="2" charset="77"/>
                        <a:cs typeface="Arial" panose="020B0604020202020204" pitchFamily="34" charset="0"/>
                      </a:rPr>
                      <a:t>whose sinusoidal solutions include</a:t>
                    </a:r>
                    <a:r>
                      <a:rPr lang="en-US" sz="3200" dirty="0">
                        <a:latin typeface="Arial" panose="020B0604020202020204" pitchFamily="34" charset="0"/>
                        <a:cs typeface="Arial" panose="020B0604020202020204" pitchFamily="34" charset="0"/>
                      </a:rPr>
                      <a:t> </a:t>
                    </a:r>
                    <a14:m>
                      <m:oMath xmlns:m="http://schemas.openxmlformats.org/officeDocument/2006/math">
                        <m:func>
                          <m:funcPr>
                            <m:ctrlPr>
                              <a:rPr lang="en-US" sz="3200" i="1" smtClean="0">
                                <a:latin typeface="Cambria Math" panose="02040503050406030204" pitchFamily="18" charset="0"/>
                              </a:rPr>
                            </m:ctrlPr>
                          </m:funcPr>
                          <m:fName>
                            <m:r>
                              <a:rPr lang="en-US" sz="3200" b="0" i="1" smtClean="0">
                                <a:latin typeface="Cambria Math" panose="02040503050406030204" pitchFamily="18" charset="0"/>
                              </a:rPr>
                              <m:t>𝑓</m:t>
                            </m:r>
                            <m:r>
                              <a:rPr lang="en-US" sz="3200" b="0" i="1" smtClean="0">
                                <a:latin typeface="Cambria Math" panose="02040503050406030204" pitchFamily="18" charset="0"/>
                              </a:rPr>
                              <m:t>=</m:t>
                            </m:r>
                            <m:r>
                              <m:rPr>
                                <m:sty m:val="p"/>
                              </m:rPr>
                              <a:rPr lang="en-US" sz="3200">
                                <a:latin typeface="Cambria Math" panose="02040503050406030204" pitchFamily="18" charset="0"/>
                              </a:rPr>
                              <m:t>sin</m:t>
                            </m:r>
                          </m:fName>
                          <m:e>
                            <m:d>
                              <m:dPr>
                                <m:ctrlPr>
                                  <a:rPr lang="en-US" sz="3200" i="1">
                                    <a:latin typeface="Cambria Math" panose="02040503050406030204" pitchFamily="18" charset="0"/>
                                  </a:rPr>
                                </m:ctrlPr>
                              </m:dPr>
                              <m:e>
                                <m:r>
                                  <m:rPr>
                                    <m:sty m:val="p"/>
                                  </m:rPr>
                                  <a:rPr lang="en-US" sz="3200" i="1">
                                    <a:latin typeface="Cambria Math" panose="02040503050406030204" pitchFamily="18" charset="0"/>
                                  </a:rPr>
                                  <m:t>x</m:t>
                                </m:r>
                              </m:e>
                            </m:d>
                          </m:e>
                        </m:func>
                      </m:oMath>
                    </a14:m>
                    <a:r>
                      <a:rPr lang="en-US" sz="3200" dirty="0">
                        <a:latin typeface="Palatino" pitchFamily="2" charset="77"/>
                        <a:ea typeface="Palatino" pitchFamily="2" charset="77"/>
                        <a:cs typeface="Arial" panose="020B0604020202020204" pitchFamily="34" charset="0"/>
                      </a:rPr>
                      <a:t>. A standard neural network was first trained on data from a limited interval using a </a:t>
                    </a:r>
                    <a:r>
                      <a:rPr lang="en-US" sz="3200" b="1" dirty="0">
                        <a:latin typeface="Palatino" pitchFamily="2" charset="77"/>
                        <a:ea typeface="Palatino" pitchFamily="2" charset="77"/>
                        <a:cs typeface="Arial" panose="020B0604020202020204" pitchFamily="34" charset="0"/>
                      </a:rPr>
                      <a:t>tanh activation function</a:t>
                    </a:r>
                    <a:r>
                      <a:rPr lang="en-US" sz="3200" dirty="0">
                        <a:latin typeface="Palatino" pitchFamily="2" charset="77"/>
                        <a:ea typeface="Palatino" pitchFamily="2" charset="77"/>
                        <a:cs typeface="Arial" panose="020B0604020202020204" pitchFamily="34" charset="0"/>
                      </a:rPr>
                      <a:t>. Its objective was to fit the target function by minimizing only the data loss. Although it performed well inside the training domain, it did not preserve the expected periodic behavior outside that region. </a:t>
                    </a:r>
                  </a:p>
                </p:txBody>
              </p:sp>
            </mc:Choice>
            <mc:Fallback xmlns="">
              <p:sp>
                <p:nvSpPr>
                  <p:cNvPr id="13" name="TextBox 13"/>
                  <p:cNvSpPr txBox="1">
                    <a:spLocks noRot="1" noChangeAspect="1" noMove="1" noResize="1" noEditPoints="1" noAdjustHandles="1" noChangeArrowheads="1" noChangeShapeType="1" noTextEdit="1"/>
                  </p:cNvSpPr>
                  <p:nvPr/>
                </p:nvSpPr>
                <p:spPr>
                  <a:xfrm>
                    <a:off x="12668556" y="4563019"/>
                    <a:ext cx="11178745" cy="4399859"/>
                  </a:xfrm>
                  <a:prstGeom prst="rect">
                    <a:avLst/>
                  </a:prstGeom>
                  <a:blipFill>
                    <a:blip r:embed="rId8"/>
                    <a:stretch>
                      <a:fillRect l="-1362" t="-575" r="-1362" b="-2586"/>
                    </a:stretch>
                  </a:blipFill>
                </p:spPr>
                <p:txBody>
                  <a:bodyPr/>
                  <a:lstStyle/>
                  <a:p>
                    <a:r>
                      <a:rPr lang="en-US">
                        <a:noFill/>
                      </a:rPr>
                      <a:t> </a:t>
                    </a:r>
                  </a:p>
                </p:txBody>
              </p:sp>
            </mc:Fallback>
          </mc:AlternateContent>
          <p:sp>
            <p:nvSpPr>
              <p:cNvPr id="29" name="Rectangle 28">
                <a:extLst>
                  <a:ext uri="{FF2B5EF4-FFF2-40B4-BE49-F238E27FC236}">
                    <a16:creationId xmlns:a16="http://schemas.microsoft.com/office/drawing/2014/main" id="{2123D085-CC8B-F069-98C7-D6BA98C672EE}"/>
                  </a:ext>
                </a:extLst>
              </p:cNvPr>
              <p:cNvSpPr/>
              <p:nvPr/>
            </p:nvSpPr>
            <p:spPr>
              <a:xfrm>
                <a:off x="12668546" y="3357057"/>
                <a:ext cx="11178755" cy="1140112"/>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solidFill>
                      <a:schemeClr val="bg1"/>
                    </a:solidFill>
                    <a:latin typeface="Palatino" pitchFamily="2" charset="77"/>
                    <a:ea typeface="Palatino" pitchFamily="2" charset="77"/>
                    <a:cs typeface="Helvetica" panose="020B0604020202020204" pitchFamily="34" charset="0"/>
                    <a:sym typeface="Inter Extra-Light"/>
                  </a:rPr>
                  <a:t>Neural Network</a:t>
                </a:r>
              </a:p>
            </p:txBody>
          </p:sp>
          <p:pic>
            <p:nvPicPr>
              <p:cNvPr id="47" name="Picture 46">
                <a:extLst>
                  <a:ext uri="{FF2B5EF4-FFF2-40B4-BE49-F238E27FC236}">
                    <a16:creationId xmlns:a16="http://schemas.microsoft.com/office/drawing/2014/main" id="{E36EC8E9-68BB-672D-CEE7-4A7680BCED6F}"/>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2668558" y="8965508"/>
                <a:ext cx="11178756" cy="7313430"/>
              </a:xfrm>
              <a:prstGeom prst="rect">
                <a:avLst/>
              </a:prstGeom>
            </p:spPr>
          </p:pic>
        </p:gr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243</TotalTime>
  <Words>616</Words>
  <Application>Microsoft Macintosh PowerPoint</Application>
  <PresentationFormat>Custom</PresentationFormat>
  <Paragraphs>18</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Cambria Math</vt:lpstr>
      <vt:lpstr>Calibri</vt:lpstr>
      <vt:lpstr>Arial</vt:lpstr>
      <vt:lpstr>Palatino</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subject/>
  <dc:creator/>
  <cp:keywords/>
  <dc:description/>
  <cp:lastModifiedBy>Prokudin, Alexey</cp:lastModifiedBy>
  <cp:revision>25</cp:revision>
  <dcterms:created xsi:type="dcterms:W3CDTF">2006-08-16T00:00:00Z</dcterms:created>
  <dcterms:modified xsi:type="dcterms:W3CDTF">2026-04-13T21:35:42Z</dcterms:modified>
  <cp:category/>
  <dc:identifier>DAHFA1U8KKM</dc:identifier>
</cp:coreProperties>
</file>